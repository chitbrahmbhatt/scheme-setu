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58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31"/>
  </p:normalViewPr>
  <p:slideViewPr>
    <p:cSldViewPr snapToGrid="0" snapToObjects="1">
      <p:cViewPr>
        <p:scale>
          <a:sx n="136" d="100"/>
          <a:sy n="136" d="100"/>
        </p:scale>
        <p:origin x="1496" y="3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67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50000"/>
            <a:ext cx="6400000" cy="2816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SIH26092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AI-Driven Scheme Matching for Marginalized Entrepreneurs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- 253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NextGen Coders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406D91C8-64AF-D7C0-202C-DB239A3741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15362" name="TextBox 15361"/>
          <p:cNvSpPr txBox="1"/>
          <p:nvPr/>
        </p:nvSpPr>
        <p:spPr>
          <a:xfrm>
            <a:off x="107564" y="1373929"/>
            <a:ext cx="6291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 Sarathi – Rule-Based Scheme Recommender, Calculator &amp; Partner Locator for NSFDC Loans</a:t>
            </a:r>
            <a:endParaRPr lang="en-US" sz="1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363" name="TextBox 15362"/>
          <p:cNvSpPr txBox="1"/>
          <p:nvPr/>
        </p:nvSpPr>
        <p:spPr>
          <a:xfrm>
            <a:off x="438912" y="1874519"/>
            <a:ext cx="5599610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414850"/>
                </a:solidFill>
                <a:latin typeface="Aptos"/>
              </a:defRPr>
            </a:pPr>
            <a:r>
              <a:rPr sz="1150" dirty="0"/>
              <a:t>Rule-based scheme recommender + financial calculator + geo-spatial partner locator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550592" y="2397739"/>
            <a:ext cx="50292" cy="157246"/>
          </a:xfrm>
          <a:prstGeom prst="rect">
            <a:avLst/>
          </a:prstGeom>
          <a:solidFill>
            <a:srgbClr val="236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585216" y="2313432"/>
            <a:ext cx="54772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C436C"/>
                </a:solidFill>
                <a:latin typeface="Aptos"/>
              </a:defRPr>
            </a:pPr>
            <a:r>
              <a:rPr dirty="0"/>
              <a:t>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603504" y="271576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Applicant enters income, purpose, project/course cost &amp; location.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Rule engine checks all 5 NSFDC schemes and ranks every eligible option by true cost.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Calculator handles quarterly instalment, interest &amp; moratorium; locator finds the nearest eligible partner.</a:t>
            </a:r>
          </a:p>
        </p:txBody>
      </p:sp>
      <p:sp>
        <p:nvSpPr>
          <p:cNvPr id="15367" name="Rectangle 15366"/>
          <p:cNvSpPr/>
          <p:nvPr/>
        </p:nvSpPr>
        <p:spPr>
          <a:xfrm>
            <a:off x="550592" y="3685030"/>
            <a:ext cx="50292" cy="157247"/>
          </a:xfrm>
          <a:prstGeom prst="rect">
            <a:avLst/>
          </a:prstGeom>
          <a:solidFill>
            <a:srgbClr val="188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8" name="TextBox 15367"/>
          <p:cNvSpPr txBox="1"/>
          <p:nvPr/>
        </p:nvSpPr>
        <p:spPr>
          <a:xfrm>
            <a:off x="585216" y="3593592"/>
            <a:ext cx="54772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C436C"/>
                </a:solidFill>
                <a:latin typeface="Aptos"/>
              </a:defRPr>
            </a:pPr>
            <a:r>
              <a:t>How it addresses the problem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603504" y="3995928"/>
            <a:ext cx="5440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Removes guesswork between overlapping schemes using the applicant’s own numbers.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Filters partners by scheme support and acceptance status — not just distance.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English + Hindi interface gives beneficiaries a simple, direct decision path.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550592" y="4950395"/>
            <a:ext cx="50292" cy="157248"/>
          </a:xfrm>
          <a:prstGeom prst="rect">
            <a:avLst/>
          </a:prstGeom>
          <a:solidFill>
            <a:srgbClr val="E16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TextBox 15370"/>
          <p:cNvSpPr txBox="1"/>
          <p:nvPr/>
        </p:nvSpPr>
        <p:spPr>
          <a:xfrm>
            <a:off x="585216" y="4873752"/>
            <a:ext cx="54772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1C436C"/>
                </a:solidFill>
                <a:latin typeface="Aptos"/>
              </a:defRPr>
            </a:pPr>
            <a:r>
              <a:t>Innovation and uniqueness of the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603504" y="5276088"/>
            <a:ext cx="5440680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Recommends the best scheme × channel combination, not just a scheme.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Highlights the ₹18,062 potential interest gap for the same ₹1.08 lakh loan.</a:t>
            </a:r>
          </a:p>
          <a:p>
            <a:pPr>
              <a:spcAft>
                <a:spcPts val="400"/>
              </a:spcAft>
              <a:defRPr sz="1040">
                <a:solidFill>
                  <a:srgbClr val="414850"/>
                </a:solidFill>
                <a:latin typeface="Aptos"/>
              </a:defRPr>
            </a:pPr>
            <a:r>
              <a:rPr sz="1100" dirty="0"/>
              <a:t>• Rules decide eligibility and money; AI only explains the finished decision.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096000" y="1417320"/>
            <a:ext cx="5654040" cy="452628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TextBox 15373"/>
          <p:cNvSpPr txBox="1"/>
          <p:nvPr/>
        </p:nvSpPr>
        <p:spPr>
          <a:xfrm>
            <a:off x="7852200" y="1696454"/>
            <a:ext cx="3465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36AAB"/>
                </a:solidFill>
                <a:latin typeface="Aptos"/>
              </a:defRPr>
            </a:pPr>
            <a:r>
              <a:rPr sz="1400" dirty="0"/>
              <a:t>SARATHI — AT A GLANCE</a:t>
            </a:r>
          </a:p>
        </p:txBody>
      </p:sp>
      <p:pic>
        <p:nvPicPr>
          <p:cNvPr id="15375" name="Picture 15374" descr="a_clean_vector_infographic_on_a_transparent_back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521" y="2105524"/>
            <a:ext cx="5640423" cy="2652400"/>
          </a:xfrm>
          <a:prstGeom prst="rect">
            <a:avLst/>
          </a:prstGeom>
        </p:spPr>
      </p:pic>
      <p:sp>
        <p:nvSpPr>
          <p:cNvPr id="15376" name="Rounded Rectangle 15375"/>
          <p:cNvSpPr/>
          <p:nvPr/>
        </p:nvSpPr>
        <p:spPr>
          <a:xfrm>
            <a:off x="6749032" y="4953089"/>
            <a:ext cx="4343400" cy="667512"/>
          </a:xfrm>
          <a:prstGeom prst="roundRect">
            <a:avLst/>
          </a:prstGeom>
          <a:solidFill>
            <a:srgbClr val="FFF7EF"/>
          </a:solidFill>
          <a:ln>
            <a:solidFill>
              <a:srgbClr val="F4B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50" b="1">
                <a:solidFill>
                  <a:srgbClr val="E1671B"/>
                </a:solidFill>
                <a:latin typeface="Aptos"/>
              </a:defRPr>
            </a:pPr>
            <a:r>
              <a:rPr dirty="0"/>
              <a:t>Choose the right scheme → know the true cost → reach the right partner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0" y="6473952"/>
            <a:ext cx="11643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643055" y="64739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300785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kern="0" spc="100" dirty="0">
                <a:solidFill>
                  <a:srgbClr val="1C436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TECHNOLOGIES TO BE USED</a:t>
            </a:r>
            <a:endParaRPr lang="en-US" sz="1450" b="1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65760" y="1639113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748841"/>
            <a:ext cx="41148" cy="740664"/>
          </a:xfrm>
          <a:prstGeom prst="rect">
            <a:avLst/>
          </a:prstGeom>
          <a:solidFill>
            <a:srgbClr val="236AA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1639113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
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CSS/HTML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· Leaflet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91840" y="1639113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9F5F2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748841"/>
            <a:ext cx="41148" cy="740664"/>
          </a:xfrm>
          <a:prstGeom prst="rect">
            <a:avLst/>
          </a:prstGeom>
          <a:solidFill>
            <a:srgbClr val="188474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0" y="1639113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
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engine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2736393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FECFA"/>
          </a:solidFill>
          <a:ln/>
        </p:spPr>
      </p:sp>
      <p:sp>
        <p:nvSpPr>
          <p:cNvPr id="17" name="Shape 14"/>
          <p:cNvSpPr/>
          <p:nvPr/>
        </p:nvSpPr>
        <p:spPr>
          <a:xfrm>
            <a:off x="365760" y="2846121"/>
            <a:ext cx="41148" cy="740664"/>
          </a:xfrm>
          <a:prstGeom prst="rect">
            <a:avLst/>
          </a:prstGeom>
          <a:solidFill>
            <a:srgbClr val="6C4FA1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736393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
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· partners · activities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91840" y="2736393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DF0E6"/>
          </a:solidFill>
          <a:ln/>
        </p:spPr>
      </p:sp>
      <p:sp>
        <p:nvSpPr>
          <p:cNvPr id="20" name="Shape 17"/>
          <p:cNvSpPr/>
          <p:nvPr/>
        </p:nvSpPr>
        <p:spPr>
          <a:xfrm>
            <a:off x="3291840" y="2846121"/>
            <a:ext cx="41148" cy="740664"/>
          </a:xfrm>
          <a:prstGeom prst="rect">
            <a:avLst/>
          </a:prstGeom>
          <a:solidFill>
            <a:srgbClr val="E1671B"/>
          </a:solidFill>
          <a:ln/>
        </p:spPr>
      </p:sp>
      <p:sp>
        <p:nvSpPr>
          <p:cNvPr id="21" name="Text 18"/>
          <p:cNvSpPr/>
          <p:nvPr/>
        </p:nvSpPr>
        <p:spPr>
          <a:xfrm>
            <a:off x="3474720" y="2736393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
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 narration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fallback, 6s timeout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3833673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6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950" i="1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for reference data (schemes, partners) — demo-ready on SQLite, deployment-ready on PostgreSQL with zero engine changes.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65760" y="4358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C4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PROCESS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4849801"/>
            <a:ext cx="1078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31520" y="4676065"/>
            <a:ext cx="347472" cy="347472"/>
          </a:xfrm>
          <a:prstGeom prst="ellipse">
            <a:avLst/>
          </a:prstGeom>
          <a:solidFill>
            <a:srgbClr val="236AAB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6760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93192" y="5050969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444752" y="5284141"/>
            <a:ext cx="13258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577340" y="4849801"/>
            <a:ext cx="1078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943100" y="4676065"/>
            <a:ext cx="347472" cy="347472"/>
          </a:xfrm>
          <a:prstGeom prst="ellipse">
            <a:avLst/>
          </a:prstGeom>
          <a:solidFill>
            <a:srgbClr val="188474"/>
          </a:solidFill>
          <a:ln/>
        </p:spPr>
      </p:sp>
      <p:sp>
        <p:nvSpPr>
          <p:cNvPr id="31" name="Text 28"/>
          <p:cNvSpPr/>
          <p:nvPr/>
        </p:nvSpPr>
        <p:spPr>
          <a:xfrm>
            <a:off x="1943100" y="46760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604772" y="5050969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656332" y="5284141"/>
            <a:ext cx="13258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88920" y="4849801"/>
            <a:ext cx="1078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154680" y="4676065"/>
            <a:ext cx="347472" cy="347472"/>
          </a:xfrm>
          <a:prstGeom prst="ellipse">
            <a:avLst/>
          </a:prstGeom>
          <a:solidFill>
            <a:srgbClr val="6C4FA1"/>
          </a:solidFill>
          <a:ln/>
        </p:spPr>
      </p:sp>
      <p:sp>
        <p:nvSpPr>
          <p:cNvPr id="36" name="Text 33"/>
          <p:cNvSpPr/>
          <p:nvPr/>
        </p:nvSpPr>
        <p:spPr>
          <a:xfrm>
            <a:off x="3154680" y="46760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816352" y="5050969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+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67912" y="5284141"/>
            <a:ext cx="13258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000500" y="4849801"/>
            <a:ext cx="1078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366260" y="4676065"/>
            <a:ext cx="347472" cy="347472"/>
          </a:xfrm>
          <a:prstGeom prst="ellipse">
            <a:avLst/>
          </a:prstGeom>
          <a:solidFill>
            <a:srgbClr val="E1671B"/>
          </a:solidFill>
          <a:ln/>
        </p:spPr>
      </p:sp>
      <p:sp>
        <p:nvSpPr>
          <p:cNvPr id="41" name="Text 38"/>
          <p:cNvSpPr/>
          <p:nvPr/>
        </p:nvSpPr>
        <p:spPr>
          <a:xfrm>
            <a:off x="4366260" y="46760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027932" y="5050969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079492" y="5284141"/>
            <a:ext cx="13258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212080" y="4849801"/>
            <a:ext cx="10789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4EB"/>
            </a:solidFill>
            <a:prstDash val="solid"/>
          </a:ln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5577840" y="4676065"/>
            <a:ext cx="347472" cy="347472"/>
          </a:xfrm>
          <a:prstGeom prst="ellipse">
            <a:avLst/>
          </a:prstGeom>
          <a:solidFill>
            <a:srgbClr val="1C436C"/>
          </a:solidFill>
          <a:ln/>
        </p:spPr>
      </p:sp>
      <p:sp>
        <p:nvSpPr>
          <p:cNvPr id="46" name="Text 43"/>
          <p:cNvSpPr/>
          <p:nvPr/>
        </p:nvSpPr>
        <p:spPr>
          <a:xfrm>
            <a:off x="5577840" y="4676065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239512" y="5050969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533388" y="1293876"/>
            <a:ext cx="5303520" cy="4650520"/>
          </a:xfrm>
          <a:prstGeom prst="roundRect">
            <a:avLst>
              <a:gd name="adj" fmla="val 2162"/>
            </a:avLst>
          </a:prstGeom>
          <a:solidFill>
            <a:srgbClr val="FBFCFE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66560" y="1357615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236AA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766560" y="1751435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AF1F8"/>
          </a:solidFill>
          <a:ln w="9525">
            <a:solidFill>
              <a:srgbClr val="236AA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94576" y="1751435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· purpose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8421624" y="1751435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E9F5F2"/>
          </a:solidFill>
          <a:ln w="9525">
            <a:solidFill>
              <a:srgbClr val="18847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49640" y="1751435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schemes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+ ranking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10076688" y="1751435"/>
            <a:ext cx="1536192" cy="868680"/>
          </a:xfrm>
          <a:prstGeom prst="roundRect">
            <a:avLst>
              <a:gd name="adj" fmla="val 7368"/>
            </a:avLst>
          </a:prstGeom>
          <a:solidFill>
            <a:srgbClr val="FDF0E6"/>
          </a:solidFill>
          <a:ln w="9525">
            <a:solidFill>
              <a:srgbClr val="E1671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204704" y="1751435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cost +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6766560" y="2809899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EFECFA"/>
          </a:solidFill>
          <a:ln w="9525">
            <a:solidFill>
              <a:srgbClr val="6C4FA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94576" y="2809899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CALCULATOR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instalment · interest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moratorium handling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9281160" y="2809899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FDF0E6"/>
          </a:solidFill>
          <a:ln w="9525">
            <a:solidFill>
              <a:srgbClr val="E1671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409176" y="2809899"/>
            <a:ext cx="207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LOCATOR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+ scheme support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/ limited / excluded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6766560" y="3835473"/>
            <a:ext cx="4846320" cy="658368"/>
          </a:xfrm>
          <a:prstGeom prst="roundRect">
            <a:avLst>
              <a:gd name="adj" fmla="val 9722"/>
            </a:avLst>
          </a:prstGeom>
          <a:solidFill>
            <a:srgbClr val="EAF1F8"/>
          </a:solidFill>
          <a:ln w="9525">
            <a:solidFill>
              <a:srgbClr val="1C436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894576" y="3835473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scheme · true cost · eligible partner · document checklist</a:t>
            </a:r>
            <a:endParaRPr lang="en-US" sz="1150" dirty="0"/>
          </a:p>
        </p:txBody>
      </p:sp>
      <p:sp>
        <p:nvSpPr>
          <p:cNvPr id="62" name="Text 59"/>
          <p:cNvSpPr/>
          <p:nvPr/>
        </p:nvSpPr>
        <p:spPr>
          <a:xfrm>
            <a:off x="9001150" y="260439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9034272" y="361929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6766560" y="4699347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FFF9F0"/>
          </a:solidFill>
          <a:ln w="9525">
            <a:solidFill>
              <a:srgbClr val="F4BB87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922008" y="4699347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honesty by design:  </a:t>
            </a:r>
            <a:r>
              <a:rPr lang="en-US" sz="100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tagged VERIFIED, VARIANT or SIMULATED in the API response itself — with source URL and date where applicable. Never mixed silently.</a:t>
            </a:r>
            <a:endParaRPr lang="en-US" sz="1050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1964B5B-314C-5F33-61D2-E9D6089B2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9" name="Title 1">
            <a:extLst>
              <a:ext uri="{FF2B5EF4-FFF2-40B4-BE49-F238E27FC236}">
                <a16:creationId xmlns:a16="http://schemas.microsoft.com/office/drawing/2014/main" id="{17FB9826-0459-4A6D-66C0-66DFAD557DA1}"/>
              </a:ext>
            </a:extLst>
          </p:cNvPr>
          <p:cNvSpPr txBox="1">
            <a:spLocks/>
          </p:cNvSpPr>
          <p:nvPr/>
        </p:nvSpPr>
        <p:spPr>
          <a:xfrm>
            <a:off x="609447" y="282160"/>
            <a:ext cx="10972800" cy="87946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1" name="Oval 70" descr="Your startup LOGO">
            <a:extLst>
              <a:ext uri="{FF2B5EF4-FFF2-40B4-BE49-F238E27FC236}">
                <a16:creationId xmlns:a16="http://schemas.microsoft.com/office/drawing/2014/main" id="{A7F417BE-7E65-6BBC-2A42-699D1F6991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73" name="Text 59">
            <a:extLst>
              <a:ext uri="{FF2B5EF4-FFF2-40B4-BE49-F238E27FC236}">
                <a16:creationId xmlns:a16="http://schemas.microsoft.com/office/drawing/2014/main" id="{3E5CCC25-5BE9-150D-C4BE-6620653BC3A5}"/>
              </a:ext>
            </a:extLst>
          </p:cNvPr>
          <p:cNvSpPr/>
          <p:nvPr/>
        </p:nvSpPr>
        <p:spPr>
          <a:xfrm>
            <a:off x="9025128" y="445943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F7D3BF8-0EAC-B6BD-88D5-2F19B7FA4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7" name="Slide Number Placeholder 5">
            <a:extLst>
              <a:ext uri="{FF2B5EF4-FFF2-40B4-BE49-F238E27FC236}">
                <a16:creationId xmlns:a16="http://schemas.microsoft.com/office/drawing/2014/main" id="{957A2526-C2FE-AA61-ECF5-706520634C8C}"/>
              </a:ext>
            </a:extLst>
          </p:cNvPr>
          <p:cNvSpPr txBox="1">
            <a:spLocks/>
          </p:cNvSpPr>
          <p:nvPr/>
        </p:nvSpPr>
        <p:spPr>
          <a:xfrm>
            <a:off x="8737600" y="6392929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r"/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8" name="Footer Placeholder 6">
            <a:extLst>
              <a:ext uri="{FF2B5EF4-FFF2-40B4-BE49-F238E27FC236}">
                <a16:creationId xmlns:a16="http://schemas.microsoft.com/office/drawing/2014/main" id="{B0D66577-0D18-5AC2-BF5A-60A4C05B6BAC}"/>
              </a:ext>
            </a:extLst>
          </p:cNvPr>
          <p:cNvSpPr txBox="1">
            <a:spLocks/>
          </p:cNvSpPr>
          <p:nvPr/>
        </p:nvSpPr>
        <p:spPr>
          <a:xfrm>
            <a:off x="4648200" y="6392929"/>
            <a:ext cx="32040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96A1565-5966-B2AA-63FA-51FB083F61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AC3D6857-A7D1-C8CF-7AC0-94B2E3CC6773}"/>
              </a:ext>
            </a:extLst>
          </p:cNvPr>
          <p:cNvSpPr/>
          <p:nvPr/>
        </p:nvSpPr>
        <p:spPr>
          <a:xfrm>
            <a:off x="4907128" y="1289304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1C436C"/>
          </a:solidFill>
          <a:ln/>
        </p:spPr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2462AC4D-0411-133B-382C-466CD09BA1ED}"/>
              </a:ext>
            </a:extLst>
          </p:cNvPr>
          <p:cNvSpPr/>
          <p:nvPr/>
        </p:nvSpPr>
        <p:spPr>
          <a:xfrm>
            <a:off x="4907128" y="12893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350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DB5E38F2-605E-9843-D4B7-BA323850C480}"/>
              </a:ext>
            </a:extLst>
          </p:cNvPr>
          <p:cNvSpPr/>
          <p:nvPr/>
        </p:nvSpPr>
        <p:spPr>
          <a:xfrm>
            <a:off x="1714500" y="2048256"/>
            <a:ext cx="0" cy="347472"/>
          </a:xfrm>
          <a:prstGeom prst="line">
            <a:avLst/>
          </a:prstGeom>
          <a:noFill/>
          <a:ln w="19050">
            <a:solidFill>
              <a:srgbClr val="DCE4EB"/>
            </a:solidFill>
            <a:prstDash val="solid"/>
          </a:ln>
        </p:spPr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6E08C819-87B2-321C-2A6F-A7689A374924}"/>
              </a:ext>
            </a:extLst>
          </p:cNvPr>
          <p:cNvSpPr/>
          <p:nvPr/>
        </p:nvSpPr>
        <p:spPr>
          <a:xfrm>
            <a:off x="365760" y="239572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236AAB"/>
          </a:solidFill>
          <a:ln/>
        </p:spPr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5ED7111-D6CE-FEC5-E145-BCF37FF7CDC8}"/>
              </a:ext>
            </a:extLst>
          </p:cNvPr>
          <p:cNvSpPr/>
          <p:nvPr/>
        </p:nvSpPr>
        <p:spPr>
          <a:xfrm>
            <a:off x="365760" y="23957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5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86FB35EC-9633-CC54-FE1D-23A672B00036}"/>
              </a:ext>
            </a:extLst>
          </p:cNvPr>
          <p:cNvSpPr/>
          <p:nvPr/>
        </p:nvSpPr>
        <p:spPr>
          <a:xfrm>
            <a:off x="365760" y="2944368"/>
            <a:ext cx="2697480" cy="1353312"/>
          </a:xfrm>
          <a:prstGeom prst="roundRect">
            <a:avLst>
              <a:gd name="adj" fmla="val 3784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DFB79E2-90D3-2107-1470-CEF24EFD22FB}"/>
              </a:ext>
            </a:extLst>
          </p:cNvPr>
          <p:cNvSpPr/>
          <p:nvPr/>
        </p:nvSpPr>
        <p:spPr>
          <a:xfrm>
            <a:off x="512064" y="3145536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6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is plain arithmetic — fast to build, trivial to verify by hand</a:t>
            </a:r>
            <a:endParaRPr lang="en-US" sz="105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5C79C952-C688-A2A7-E34B-17859E4AC2D5}"/>
              </a:ext>
            </a:extLst>
          </p:cNvPr>
          <p:cNvSpPr/>
          <p:nvPr/>
        </p:nvSpPr>
        <p:spPr>
          <a:xfrm>
            <a:off x="512064" y="3719748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36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(SQLite → PostgreSQL) needs no redesign to scale</a:t>
            </a:r>
            <a:endParaRPr lang="en-US" sz="105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CA70EBB-D1C4-456C-485F-BF344138521F}"/>
              </a:ext>
            </a:extLst>
          </p:cNvPr>
          <p:cNvSpPr/>
          <p:nvPr/>
        </p:nvSpPr>
        <p:spPr>
          <a:xfrm>
            <a:off x="4549140" y="2048256"/>
            <a:ext cx="0" cy="347472"/>
          </a:xfrm>
          <a:prstGeom prst="line">
            <a:avLst/>
          </a:prstGeom>
          <a:noFill/>
          <a:ln w="19050">
            <a:solidFill>
              <a:srgbClr val="DCE4EB"/>
            </a:solidFill>
            <a:prstDash val="solid"/>
          </a:ln>
        </p:spPr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F56CB090-491F-C411-F42F-4406DAF812C4}"/>
              </a:ext>
            </a:extLst>
          </p:cNvPr>
          <p:cNvSpPr/>
          <p:nvPr/>
        </p:nvSpPr>
        <p:spPr>
          <a:xfrm>
            <a:off x="3200400" y="239572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188474"/>
          </a:solidFill>
          <a:ln/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0CDE8BF-BEB6-10BA-6525-B6DB26EEA1EA}"/>
              </a:ext>
            </a:extLst>
          </p:cNvPr>
          <p:cNvSpPr/>
          <p:nvPr/>
        </p:nvSpPr>
        <p:spPr>
          <a:xfrm>
            <a:off x="3200400" y="23957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25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7EC5E1D5-8FF4-BED3-8A1A-0EBC450189C0}"/>
              </a:ext>
            </a:extLst>
          </p:cNvPr>
          <p:cNvSpPr/>
          <p:nvPr/>
        </p:nvSpPr>
        <p:spPr>
          <a:xfrm>
            <a:off x="3200400" y="2944368"/>
            <a:ext cx="2697480" cy="1353312"/>
          </a:xfrm>
          <a:prstGeom prst="roundRect">
            <a:avLst>
              <a:gd name="adj" fmla="val 3784"/>
            </a:avLst>
          </a:prstGeom>
          <a:solidFill>
            <a:srgbClr val="E9F5F2"/>
          </a:solidFill>
          <a:ln/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59281192-A618-9F45-02A9-8958918334AB}"/>
              </a:ext>
            </a:extLst>
          </p:cNvPr>
          <p:cNvSpPr/>
          <p:nvPr/>
        </p:nvSpPr>
        <p:spPr>
          <a:xfrm>
            <a:off x="3346704" y="3145536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8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API costs — no paid maps, no paid LLM required to function</a:t>
            </a:r>
            <a:endParaRPr lang="en-US" sz="105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BC768F7D-39B4-C2CA-5763-B4F87C6B2F3E}"/>
              </a:ext>
            </a:extLst>
          </p:cNvPr>
          <p:cNvSpPr/>
          <p:nvPr/>
        </p:nvSpPr>
        <p:spPr>
          <a:xfrm>
            <a:off x="3346704" y="3719748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8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 is optional; core product runs at near-zero marginal cost</a:t>
            </a:r>
            <a:endParaRPr lang="en-US" sz="1050" dirty="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6DC4030C-CA83-D5EB-57D8-FA60EEE3C944}"/>
              </a:ext>
            </a:extLst>
          </p:cNvPr>
          <p:cNvSpPr/>
          <p:nvPr/>
        </p:nvSpPr>
        <p:spPr>
          <a:xfrm>
            <a:off x="7383780" y="2048256"/>
            <a:ext cx="0" cy="347472"/>
          </a:xfrm>
          <a:prstGeom prst="line">
            <a:avLst/>
          </a:prstGeom>
          <a:noFill/>
          <a:ln w="19050">
            <a:solidFill>
              <a:srgbClr val="DCE4EB"/>
            </a:solidFill>
            <a:prstDash val="solid"/>
          </a:ln>
        </p:spPr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6FBCDA03-3B23-0B7D-D79B-286969601161}"/>
              </a:ext>
            </a:extLst>
          </p:cNvPr>
          <p:cNvSpPr/>
          <p:nvPr/>
        </p:nvSpPr>
        <p:spPr>
          <a:xfrm>
            <a:off x="6035040" y="239572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6C4FA1"/>
          </a:solidFill>
          <a:ln/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008C257A-3A28-E08F-92EC-9D01DACE4559}"/>
              </a:ext>
            </a:extLst>
          </p:cNvPr>
          <p:cNvSpPr/>
          <p:nvPr/>
        </p:nvSpPr>
        <p:spPr>
          <a:xfrm>
            <a:off x="6035040" y="23957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5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E232392F-D51B-69E8-7EA1-C79BC0588978}"/>
              </a:ext>
            </a:extLst>
          </p:cNvPr>
          <p:cNvSpPr/>
          <p:nvPr/>
        </p:nvSpPr>
        <p:spPr>
          <a:xfrm>
            <a:off x="6035040" y="2944368"/>
            <a:ext cx="2697480" cy="1353312"/>
          </a:xfrm>
          <a:prstGeom prst="roundRect">
            <a:avLst>
              <a:gd name="adj" fmla="val 3784"/>
            </a:avLst>
          </a:prstGeom>
          <a:solidFill>
            <a:srgbClr val="EFECFA"/>
          </a:solidFill>
          <a:ln/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EDC26692-0041-02C2-BBA4-587D286F5E38}"/>
              </a:ext>
            </a:extLst>
          </p:cNvPr>
          <p:cNvSpPr/>
          <p:nvPr/>
        </p:nvSpPr>
        <p:spPr>
          <a:xfrm>
            <a:off x="6181344" y="3145536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dataset is swappable — simulated now, live NSFDC feed later, zero change to routing logic</a:t>
            </a:r>
            <a:endParaRPr lang="en-US" sz="105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ED0F905A-1BA5-A993-2E4B-431D5C93BB17}"/>
              </a:ext>
            </a:extLst>
          </p:cNvPr>
          <p:cNvSpPr/>
          <p:nvPr/>
        </p:nvSpPr>
        <p:spPr>
          <a:xfrm>
            <a:off x="6181344" y="3719748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6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— no accounts, no migrations, easy to deploy anywhere</a:t>
            </a:r>
            <a:endParaRPr lang="en-US" sz="105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8B00E485-3CD9-70F8-13CE-CF5532439701}"/>
              </a:ext>
            </a:extLst>
          </p:cNvPr>
          <p:cNvSpPr/>
          <p:nvPr/>
        </p:nvSpPr>
        <p:spPr>
          <a:xfrm>
            <a:off x="10218420" y="2048256"/>
            <a:ext cx="0" cy="347472"/>
          </a:xfrm>
          <a:prstGeom prst="line">
            <a:avLst/>
          </a:prstGeom>
          <a:noFill/>
          <a:ln w="19050">
            <a:solidFill>
              <a:srgbClr val="DCE4EB"/>
            </a:solidFill>
            <a:prstDash val="solid"/>
          </a:ln>
        </p:spPr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F9BE8131-4CE6-F3C5-7408-D611D81B0D14}"/>
              </a:ext>
            </a:extLst>
          </p:cNvPr>
          <p:cNvSpPr/>
          <p:nvPr/>
        </p:nvSpPr>
        <p:spPr>
          <a:xfrm>
            <a:off x="8869680" y="2395728"/>
            <a:ext cx="2697480" cy="457200"/>
          </a:xfrm>
          <a:prstGeom prst="roundRect">
            <a:avLst>
              <a:gd name="adj" fmla="val 14000"/>
            </a:avLst>
          </a:prstGeom>
          <a:solidFill>
            <a:srgbClr val="E1671B"/>
          </a:solidFill>
          <a:ln/>
        </p:spPr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37981EEC-05B6-262C-60A1-ECD8A53B180F}"/>
              </a:ext>
            </a:extLst>
          </p:cNvPr>
          <p:cNvSpPr/>
          <p:nvPr/>
        </p:nvSpPr>
        <p:spPr>
          <a:xfrm>
            <a:off x="8869680" y="23957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Adoption</a:t>
            </a:r>
            <a:endParaRPr lang="en-US" sz="125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B823AD9B-C451-F870-9BAE-667E5147B7CF}"/>
              </a:ext>
            </a:extLst>
          </p:cNvPr>
          <p:cNvSpPr/>
          <p:nvPr/>
        </p:nvSpPr>
        <p:spPr>
          <a:xfrm>
            <a:off x="8869680" y="2944368"/>
            <a:ext cx="2697480" cy="1353312"/>
          </a:xfrm>
          <a:prstGeom prst="roundRect">
            <a:avLst>
              <a:gd name="adj" fmla="val 3784"/>
            </a:avLst>
          </a:prstGeom>
          <a:solidFill>
            <a:srgbClr val="FDF0E6"/>
          </a:solidFill>
          <a:ln/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EE31F9FA-BF62-92CE-0ED5-88E656B84494}"/>
              </a:ext>
            </a:extLst>
          </p:cNvPr>
          <p:cNvSpPr/>
          <p:nvPr/>
        </p:nvSpPr>
        <p:spPr>
          <a:xfrm>
            <a:off x="9015984" y="3145536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source-linked and dated — defensible to a judge or an auditor</a:t>
            </a:r>
            <a:endParaRPr lang="en-US" sz="105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5391CEFB-3A1B-0E30-B9AF-A72F94DC00D8}"/>
              </a:ext>
            </a:extLst>
          </p:cNvPr>
          <p:cNvSpPr/>
          <p:nvPr/>
        </p:nvSpPr>
        <p:spPr>
          <a:xfrm>
            <a:off x="9015984" y="3719748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Hindi from day one, for the audience that actually needs this</a:t>
            </a:r>
            <a:endParaRPr lang="en-US" sz="105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A991EA0A-C06C-5AB8-090D-78B70B42AAE6}"/>
              </a:ext>
            </a:extLst>
          </p:cNvPr>
          <p:cNvSpPr/>
          <p:nvPr/>
        </p:nvSpPr>
        <p:spPr>
          <a:xfrm>
            <a:off x="365760" y="4434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RISKS — NAMED, NOT HIDDEN</a:t>
            </a:r>
            <a:endParaRPr lang="en-US" sz="110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B2CE6AAE-3224-EDED-E358-391F82CA7320}"/>
              </a:ext>
            </a:extLst>
          </p:cNvPr>
          <p:cNvSpPr/>
          <p:nvPr/>
        </p:nvSpPr>
        <p:spPr>
          <a:xfrm>
            <a:off x="365760" y="4754880"/>
            <a:ext cx="11430000" cy="402336"/>
          </a:xfrm>
          <a:prstGeom prst="roundRect">
            <a:avLst>
              <a:gd name="adj" fmla="val 13636"/>
            </a:avLst>
          </a:prstGeom>
          <a:solidFill>
            <a:srgbClr val="FAFBFC"/>
          </a:solidFill>
          <a:ln w="9525">
            <a:solidFill>
              <a:srgbClr val="DCE4EB"/>
            </a:solidFill>
            <a:prstDash val="solid"/>
          </a:ln>
        </p:spPr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F7A6B968-B373-CE20-2D7E-80A7588B25FC}"/>
              </a:ext>
            </a:extLst>
          </p:cNvPr>
          <p:cNvSpPr/>
          <p:nvPr/>
        </p:nvSpPr>
        <p:spPr>
          <a:xfrm>
            <a:off x="566928" y="475488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rates/limits may change → mitigated by per-field source + as-of date, live at /schemes</a:t>
            </a:r>
            <a:endParaRPr lang="en-US" sz="1050" dirty="0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3D14775E-9F8D-F503-B620-07107F379B3F}"/>
              </a:ext>
            </a:extLst>
          </p:cNvPr>
          <p:cNvSpPr/>
          <p:nvPr/>
        </p:nvSpPr>
        <p:spPr>
          <a:xfrm>
            <a:off x="365760" y="5221224"/>
            <a:ext cx="11430000" cy="402336"/>
          </a:xfrm>
          <a:prstGeom prst="roundRect">
            <a:avLst>
              <a:gd name="adj" fmla="val 13636"/>
            </a:avLst>
          </a:prstGeom>
          <a:solidFill>
            <a:srgbClr val="FAFBFC"/>
          </a:solidFill>
          <a:ln w="9525">
            <a:solidFill>
              <a:srgbClr val="DCE4EB"/>
            </a:solidFill>
            <a:prstDash val="solid"/>
          </a:ln>
        </p:spPr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551EE3B2-245E-8E4F-5DB1-B27FDCE3A0DA}"/>
              </a:ext>
            </a:extLst>
          </p:cNvPr>
          <p:cNvSpPr/>
          <p:nvPr/>
        </p:nvSpPr>
        <p:spPr>
          <a:xfrm>
            <a:off x="566928" y="5221224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acceptance data isn't public → clearly labelled SIMULATED; algorithm is real</a:t>
            </a:r>
            <a:endParaRPr lang="en-US" sz="105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72EFF543-0C70-187A-0CEE-9529358D12E1}"/>
              </a:ext>
            </a:extLst>
          </p:cNvPr>
          <p:cNvSpPr/>
          <p:nvPr/>
        </p:nvSpPr>
        <p:spPr>
          <a:xfrm>
            <a:off x="365760" y="5687568"/>
            <a:ext cx="11430000" cy="402336"/>
          </a:xfrm>
          <a:prstGeom prst="roundRect">
            <a:avLst>
              <a:gd name="adj" fmla="val 13636"/>
            </a:avLst>
          </a:prstGeom>
          <a:solidFill>
            <a:srgbClr val="FAFBFC"/>
          </a:solidFill>
          <a:ln w="9525">
            <a:solidFill>
              <a:srgbClr val="DCE4EB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2761E693-736F-8DED-11C6-514C3108AEA0}"/>
              </a:ext>
            </a:extLst>
          </p:cNvPr>
          <p:cNvSpPr/>
          <p:nvPr/>
        </p:nvSpPr>
        <p:spPr>
          <a:xfrm>
            <a:off x="566928" y="5687568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Low-literacy / non-smartphone users → Hindi UI now, lightweight, kiosk mode planned</a:t>
            </a:r>
            <a:endParaRPr lang="en-US" sz="105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5AE848-220C-18D6-3D09-73F35121E2C9}"/>
              </a:ext>
            </a:extLst>
          </p:cNvPr>
          <p:cNvSpPr txBox="1"/>
          <p:nvPr/>
        </p:nvSpPr>
        <p:spPr>
          <a:xfrm>
            <a:off x="457200" y="877824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C436C"/>
                </a:solidFill>
                <a:latin typeface="Aptos"/>
              </a:defRPr>
            </a:pPr>
            <a:r>
              <a:rPr dirty="0"/>
              <a:t>A practical MVP built on verifiable rules and replaceable data</a:t>
            </a:r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B60F8525-B8DF-3D8E-A1E4-09CF350C34B6}"/>
              </a:ext>
            </a:extLst>
          </p:cNvPr>
          <p:cNvSpPr/>
          <p:nvPr/>
        </p:nvSpPr>
        <p:spPr>
          <a:xfrm flipH="1">
            <a:off x="1714496" y="2048256"/>
            <a:ext cx="8503917" cy="381"/>
          </a:xfrm>
          <a:prstGeom prst="line">
            <a:avLst/>
          </a:prstGeom>
          <a:noFill/>
          <a:ln w="19050">
            <a:solidFill>
              <a:srgbClr val="DCE4EB"/>
            </a:solidFill>
            <a:prstDash val="solid"/>
          </a:ln>
        </p:spPr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57B5C440-0DB0-D2D5-1E39-B2C7FB44EA4D}"/>
              </a:ext>
            </a:extLst>
          </p:cNvPr>
          <p:cNvSpPr/>
          <p:nvPr/>
        </p:nvSpPr>
        <p:spPr>
          <a:xfrm>
            <a:off x="6069943" y="1856232"/>
            <a:ext cx="0" cy="192024"/>
          </a:xfrm>
          <a:prstGeom prst="line">
            <a:avLst/>
          </a:prstGeom>
          <a:noFill/>
          <a:ln w="19050">
            <a:solidFill>
              <a:srgbClr val="DCE4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CE39872-FCF6-FADC-2F64-448CCD0C8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59C6820C-AEA5-F772-C33D-1066E3C32B9D}"/>
              </a:ext>
            </a:extLst>
          </p:cNvPr>
          <p:cNvSpPr/>
          <p:nvPr/>
        </p:nvSpPr>
        <p:spPr>
          <a:xfrm>
            <a:off x="365760" y="114155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C4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APPLICANT, THE SAME ₹1.2 LAKH PROJECT — THREE DIFFERENT DOORS</a:t>
            </a:r>
            <a:endParaRPr lang="en-US" sz="11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26184D8F-97FA-76A9-E413-BA8A1B7744BC}"/>
              </a:ext>
            </a:extLst>
          </p:cNvPr>
          <p:cNvSpPr/>
          <p:nvPr/>
        </p:nvSpPr>
        <p:spPr>
          <a:xfrm>
            <a:off x="365760" y="1491916"/>
            <a:ext cx="11430000" cy="329184"/>
          </a:xfrm>
          <a:prstGeom prst="rect">
            <a:avLst/>
          </a:prstGeom>
          <a:solidFill>
            <a:srgbClr val="1C436C"/>
          </a:solidFill>
          <a:ln/>
        </p:spPr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DC9E9DA-A9F9-0003-3ECD-B2365384A74A}"/>
              </a:ext>
            </a:extLst>
          </p:cNvPr>
          <p:cNvSpPr/>
          <p:nvPr/>
        </p:nvSpPr>
        <p:spPr>
          <a:xfrm>
            <a:off x="365760" y="14919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2FBDBBA1-1AFA-7291-5325-B764B592E607}"/>
              </a:ext>
            </a:extLst>
          </p:cNvPr>
          <p:cNvSpPr/>
          <p:nvPr/>
        </p:nvSpPr>
        <p:spPr>
          <a:xfrm>
            <a:off x="1554480" y="1491916"/>
            <a:ext cx="283464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05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4D407B05-20BA-5034-826F-8D8F705E9F3E}"/>
              </a:ext>
            </a:extLst>
          </p:cNvPr>
          <p:cNvSpPr/>
          <p:nvPr/>
        </p:nvSpPr>
        <p:spPr>
          <a:xfrm>
            <a:off x="4389120" y="1491916"/>
            <a:ext cx="237744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08A58C-F34D-8085-0C15-32C1EC20A695}"/>
              </a:ext>
            </a:extLst>
          </p:cNvPr>
          <p:cNvSpPr/>
          <p:nvPr/>
        </p:nvSpPr>
        <p:spPr>
          <a:xfrm>
            <a:off x="6766560" y="1491916"/>
            <a:ext cx="13716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8139A0-0091-F811-AE98-3E8F63BB35C8}"/>
              </a:ext>
            </a:extLst>
          </p:cNvPr>
          <p:cNvSpPr/>
          <p:nvPr/>
        </p:nvSpPr>
        <p:spPr>
          <a:xfrm>
            <a:off x="8138160" y="1491916"/>
            <a:ext cx="27432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instalment</a:t>
            </a: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A3B62E-FA71-EC11-D8F9-3F789D1DF04C}"/>
              </a:ext>
            </a:extLst>
          </p:cNvPr>
          <p:cNvSpPr/>
          <p:nvPr/>
        </p:nvSpPr>
        <p:spPr>
          <a:xfrm>
            <a:off x="10881360" y="1491916"/>
            <a:ext cx="91440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FBC0B92-8C04-C5E2-FBDA-83BC9CC8DB02}"/>
              </a:ext>
            </a:extLst>
          </p:cNvPr>
          <p:cNvSpPr/>
          <p:nvPr/>
        </p:nvSpPr>
        <p:spPr>
          <a:xfrm>
            <a:off x="365760" y="1821100"/>
            <a:ext cx="1143000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CE4EB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E0A89BD-38A0-B760-D4E3-2D4776F59ECE}"/>
              </a:ext>
            </a:extLst>
          </p:cNvPr>
          <p:cNvSpPr/>
          <p:nvPr/>
        </p:nvSpPr>
        <p:spPr>
          <a:xfrm>
            <a:off x="365760" y="18211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4190CA4-42A1-A64A-3939-31E2F26DC4ED}"/>
              </a:ext>
            </a:extLst>
          </p:cNvPr>
          <p:cNvSpPr/>
          <p:nvPr/>
        </p:nvSpPr>
        <p:spPr>
          <a:xfrm>
            <a:off x="1554480" y="1821100"/>
            <a:ext cx="28346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Finance Scheme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EF4C4E6-7329-38CC-08E0-C8059B8B0061}"/>
              </a:ext>
            </a:extLst>
          </p:cNvPr>
          <p:cNvSpPr/>
          <p:nvPr/>
        </p:nvSpPr>
        <p:spPr>
          <a:xfrm>
            <a:off x="4389120" y="1821100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/ PSB / RRB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E958505-6729-F994-0083-F1CF95122C62}"/>
              </a:ext>
            </a:extLst>
          </p:cNvPr>
          <p:cNvSpPr/>
          <p:nvPr/>
        </p:nvSpPr>
        <p:spPr>
          <a:xfrm>
            <a:off x="6766560" y="1821100"/>
            <a:ext cx="13716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1DD3B2C-40A2-4563-6A42-40F799014F89}"/>
              </a:ext>
            </a:extLst>
          </p:cNvPr>
          <p:cNvSpPr/>
          <p:nvPr/>
        </p:nvSpPr>
        <p:spPr>
          <a:xfrm>
            <a:off x="8138160" y="1821100"/>
            <a:ext cx="27432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₹10,977 × 11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BEF90BB-CF8A-71B0-EE79-089BAA9CB61F}"/>
              </a:ext>
            </a:extLst>
          </p:cNvPr>
          <p:cNvSpPr/>
          <p:nvPr/>
        </p:nvSpPr>
        <p:spPr>
          <a:xfrm>
            <a:off x="10881360" y="1821100"/>
            <a:ext cx="9144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₹12,747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7A6827C-10A8-C834-8A05-5C36D7D3D06C}"/>
              </a:ext>
            </a:extLst>
          </p:cNvPr>
          <p:cNvSpPr/>
          <p:nvPr/>
        </p:nvSpPr>
        <p:spPr>
          <a:xfrm>
            <a:off x="365760" y="2205148"/>
            <a:ext cx="11430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4EB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8544FE4-BF27-C971-FCE3-4FF2D29A8F6C}"/>
              </a:ext>
            </a:extLst>
          </p:cNvPr>
          <p:cNvSpPr/>
          <p:nvPr/>
        </p:nvSpPr>
        <p:spPr>
          <a:xfrm>
            <a:off x="365760" y="22051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D2A6871-5E6C-89FA-DF01-1337744AC1F5}"/>
              </a:ext>
            </a:extLst>
          </p:cNvPr>
          <p:cNvSpPr/>
          <p:nvPr/>
        </p:nvSpPr>
        <p:spPr>
          <a:xfrm>
            <a:off x="1554480" y="2205148"/>
            <a:ext cx="28346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 Nidhi Yojana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D104840-C628-BE1D-BA97-3047AAC426DB}"/>
              </a:ext>
            </a:extLst>
          </p:cNvPr>
          <p:cNvSpPr/>
          <p:nvPr/>
        </p:nvSpPr>
        <p:spPr>
          <a:xfrm>
            <a:off x="4389120" y="2205148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Co-op Bank / SFB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7149727-6CF0-99A7-02BD-31ED285FCB7B}"/>
              </a:ext>
            </a:extLst>
          </p:cNvPr>
          <p:cNvSpPr/>
          <p:nvPr/>
        </p:nvSpPr>
        <p:spPr>
          <a:xfrm>
            <a:off x="6766560" y="2205148"/>
            <a:ext cx="13716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13–15%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8247260-2586-EEA0-8B03-D53A7439CD40}"/>
              </a:ext>
            </a:extLst>
          </p:cNvPr>
          <p:cNvSpPr/>
          <p:nvPr/>
        </p:nvSpPr>
        <p:spPr>
          <a:xfrm>
            <a:off x="8138160" y="2205148"/>
            <a:ext cx="27432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A0041B4-E594-7E2B-DAE2-2A9109C2B786}"/>
              </a:ext>
            </a:extLst>
          </p:cNvPr>
          <p:cNvSpPr/>
          <p:nvPr/>
        </p:nvSpPr>
        <p:spPr>
          <a:xfrm>
            <a:off x="10881360" y="2205148"/>
            <a:ext cx="9144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F50EF70-1D9B-B3B8-23AE-A9BB931ABBE2}"/>
              </a:ext>
            </a:extLst>
          </p:cNvPr>
          <p:cNvSpPr/>
          <p:nvPr/>
        </p:nvSpPr>
        <p:spPr>
          <a:xfrm>
            <a:off x="365760" y="2589196"/>
            <a:ext cx="11430000" cy="384048"/>
          </a:xfrm>
          <a:prstGeom prst="rect">
            <a:avLst/>
          </a:prstGeom>
          <a:solidFill>
            <a:srgbClr val="FDEEE3"/>
          </a:solidFill>
          <a:ln w="6350">
            <a:solidFill>
              <a:srgbClr val="DCE4EB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2DF97FE-A91D-E775-174C-E44BE2BC726E}"/>
              </a:ext>
            </a:extLst>
          </p:cNvPr>
          <p:cNvSpPr/>
          <p:nvPr/>
        </p:nvSpPr>
        <p:spPr>
          <a:xfrm>
            <a:off x="365760" y="25891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3C25CD8-42CB-E4FB-3F04-28FAB660F3C2}"/>
              </a:ext>
            </a:extLst>
          </p:cNvPr>
          <p:cNvSpPr/>
          <p:nvPr/>
        </p:nvSpPr>
        <p:spPr>
          <a:xfrm>
            <a:off x="1554480" y="2589196"/>
            <a:ext cx="28346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Aajeevika Micro-Finance Yojana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E75B4D5-A086-0EAE-4198-D17EB417F466}"/>
              </a:ext>
            </a:extLst>
          </p:cNvPr>
          <p:cNvSpPr/>
          <p:nvPr/>
        </p:nvSpPr>
        <p:spPr>
          <a:xfrm>
            <a:off x="4389120" y="2589196"/>
            <a:ext cx="237744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NBFC-MFI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424DB5C-C7C5-DD35-7F83-8AFC79FEC5DD}"/>
              </a:ext>
            </a:extLst>
          </p:cNvPr>
          <p:cNvSpPr/>
          <p:nvPr/>
        </p:nvSpPr>
        <p:spPr>
          <a:xfrm>
            <a:off x="6766560" y="2589196"/>
            <a:ext cx="13716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C75E07E-C676-44B6-B90B-8B2F252F30D8}"/>
              </a:ext>
            </a:extLst>
          </p:cNvPr>
          <p:cNvSpPr/>
          <p:nvPr/>
        </p:nvSpPr>
        <p:spPr>
          <a:xfrm>
            <a:off x="8138160" y="2589196"/>
            <a:ext cx="27432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₹12,619 × 11</a:t>
            </a:r>
            <a:endParaRPr lang="en-US" sz="11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9C03C74-9374-9D2F-9EC0-E6590F65FE9A}"/>
              </a:ext>
            </a:extLst>
          </p:cNvPr>
          <p:cNvSpPr/>
          <p:nvPr/>
        </p:nvSpPr>
        <p:spPr>
          <a:xfrm>
            <a:off x="10881360" y="2589196"/>
            <a:ext cx="9144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₹30,809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F73B920-00E5-99D3-DA6C-0ACE0F61144E}"/>
              </a:ext>
            </a:extLst>
          </p:cNvPr>
          <p:cNvSpPr/>
          <p:nvPr/>
        </p:nvSpPr>
        <p:spPr>
          <a:xfrm>
            <a:off x="365760" y="3046396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into the wrong office costs </a:t>
            </a:r>
            <a:r>
              <a:rPr lang="en-US" sz="11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₹18,062</a:t>
            </a:r>
            <a:r>
              <a:rPr lang="en-US" sz="11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roughly a sixth of the loan. The same pattern repeats at every project size: a ₹4 lakh dairy loan can cost </a:t>
            </a:r>
            <a:r>
              <a:rPr lang="en-US" sz="1150" b="1" dirty="0">
                <a:solidFill>
                  <a:srgbClr val="E1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₹45,121</a:t>
            </a:r>
            <a:r>
              <a:rPr lang="en-US" sz="11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through the wrong channel.</a:t>
            </a:r>
            <a:endParaRPr lang="en-US" sz="11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C3E9276-E46E-DA68-1CE9-E3EF14DD14CE}"/>
              </a:ext>
            </a:extLst>
          </p:cNvPr>
          <p:cNvSpPr/>
          <p:nvPr/>
        </p:nvSpPr>
        <p:spPr>
          <a:xfrm>
            <a:off x="365760" y="35060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FOR BENEFICIARIES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4F9884E-FCA6-E30F-6DF9-406F266C5C1D}"/>
              </a:ext>
            </a:extLst>
          </p:cNvPr>
          <p:cNvSpPr/>
          <p:nvPr/>
        </p:nvSpPr>
        <p:spPr>
          <a:xfrm>
            <a:off x="4297680" y="35060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SARATHI'S ROLE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0A5A096-F893-8733-9409-EECF859FBA4F}"/>
              </a:ext>
            </a:extLst>
          </p:cNvPr>
          <p:cNvSpPr/>
          <p:nvPr/>
        </p:nvSpPr>
        <p:spPr>
          <a:xfrm>
            <a:off x="8229600" y="35060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C04B340-E879-A03E-F2FE-260702036E05}"/>
              </a:ext>
            </a:extLst>
          </p:cNvPr>
          <p:cNvSpPr/>
          <p:nvPr/>
        </p:nvSpPr>
        <p:spPr>
          <a:xfrm>
            <a:off x="365760" y="3798612"/>
            <a:ext cx="3657600" cy="2423160"/>
          </a:xfrm>
          <a:prstGeom prst="roundRect">
            <a:avLst>
              <a:gd name="adj" fmla="val 3774"/>
            </a:avLst>
          </a:prstGeom>
          <a:solidFill>
            <a:srgbClr val="EAF1F8"/>
          </a:solidFill>
          <a:ln/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2514EE8-208E-2B7E-C6F0-3D76DEACF181}"/>
              </a:ext>
            </a:extLst>
          </p:cNvPr>
          <p:cNvSpPr/>
          <p:nvPr/>
        </p:nvSpPr>
        <p:spPr>
          <a:xfrm>
            <a:off x="594360" y="39266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Sarathi</a:t>
            </a:r>
            <a:endParaRPr lang="en-US" sz="14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F56C7C1-1730-3268-C8C2-A30D5E7B662D}"/>
              </a:ext>
            </a:extLst>
          </p:cNvPr>
          <p:cNvSpPr/>
          <p:nvPr/>
        </p:nvSpPr>
        <p:spPr>
          <a:xfrm>
            <a:off x="594360" y="431067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6A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4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0FE2E99-184A-D2BB-EBF6-A3478754C026}"/>
              </a:ext>
            </a:extLst>
          </p:cNvPr>
          <p:cNvSpPr/>
          <p:nvPr/>
        </p:nvSpPr>
        <p:spPr>
          <a:xfrm>
            <a:off x="1463040" y="431067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channel-partner branches, unmapped to any single applicant journey</a:t>
            </a:r>
            <a:endParaRPr lang="en-US" sz="9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15EDA0E-8316-6A51-D810-F119A845A647}"/>
              </a:ext>
            </a:extLst>
          </p:cNvPr>
          <p:cNvSpPr/>
          <p:nvPr/>
        </p:nvSpPr>
        <p:spPr>
          <a:xfrm>
            <a:off x="594360" y="495075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6A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3842ED1-2EB1-025F-0152-88851A2947FD}"/>
              </a:ext>
            </a:extLst>
          </p:cNvPr>
          <p:cNvSpPr/>
          <p:nvPr/>
        </p:nvSpPr>
        <p:spPr>
          <a:xfrm>
            <a:off x="1463040" y="495075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&amp; channel variants that can overlap for one applicant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57232E3-2864-4575-34DD-FFFE90D4D49C}"/>
              </a:ext>
            </a:extLst>
          </p:cNvPr>
          <p:cNvSpPr/>
          <p:nvPr/>
        </p:nvSpPr>
        <p:spPr>
          <a:xfrm>
            <a:off x="594360" y="559083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36A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FB802F4-5830-3ECF-7929-1B2BA94983A4}"/>
              </a:ext>
            </a:extLst>
          </p:cNvPr>
          <p:cNvSpPr/>
          <p:nvPr/>
        </p:nvSpPr>
        <p:spPr>
          <a:xfrm>
            <a:off x="1463040" y="559083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door can cost a sixth of the entire loan</a:t>
            </a:r>
            <a:endParaRPr lang="en-US" sz="9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E0F3192-45A5-AD5D-2232-25AFED64E764}"/>
              </a:ext>
            </a:extLst>
          </p:cNvPr>
          <p:cNvSpPr/>
          <p:nvPr/>
        </p:nvSpPr>
        <p:spPr>
          <a:xfrm>
            <a:off x="4297680" y="3798612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4EB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06B0512-2146-A861-9643-13746D533B22}"/>
              </a:ext>
            </a:extLst>
          </p:cNvPr>
          <p:cNvSpPr/>
          <p:nvPr/>
        </p:nvSpPr>
        <p:spPr>
          <a:xfrm>
            <a:off x="5349240" y="3902241"/>
            <a:ext cx="1463040" cy="1463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436C"/>
            </a:solidFill>
            <a:prstDash val="solid"/>
          </a:ln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4075F3A-1536-E741-68B4-7C562EB44BCA}"/>
              </a:ext>
            </a:extLst>
          </p:cNvPr>
          <p:cNvSpPr/>
          <p:nvPr/>
        </p:nvSpPr>
        <p:spPr>
          <a:xfrm>
            <a:off x="5349240" y="3902241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4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SARATHI
</a:t>
            </a:r>
            <a:r>
              <a:rPr lang="en-US" sz="8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</a:t>
            </a:r>
            <a:endParaRPr lang="en-US" sz="14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F54B2F08-AD48-8A80-E71A-40A2B75580CB}"/>
              </a:ext>
            </a:extLst>
          </p:cNvPr>
          <p:cNvSpPr/>
          <p:nvPr/>
        </p:nvSpPr>
        <p:spPr>
          <a:xfrm>
            <a:off x="4434840" y="5517684"/>
            <a:ext cx="1051560" cy="530352"/>
          </a:xfrm>
          <a:prstGeom prst="roundRect">
            <a:avLst>
              <a:gd name="adj" fmla="val 10345"/>
            </a:avLst>
          </a:prstGeom>
          <a:solidFill>
            <a:srgbClr val="EAF1F8"/>
          </a:solidFill>
          <a:ln w="9525">
            <a:solidFill>
              <a:srgbClr val="236AAB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006FC31-1B55-0049-E454-31481D85079D}"/>
              </a:ext>
            </a:extLst>
          </p:cNvPr>
          <p:cNvSpPr/>
          <p:nvPr/>
        </p:nvSpPr>
        <p:spPr>
          <a:xfrm>
            <a:off x="4434840" y="55176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9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E8C4BD56-0050-3313-356B-7D746F39287A}"/>
              </a:ext>
            </a:extLst>
          </p:cNvPr>
          <p:cNvSpPr/>
          <p:nvPr/>
        </p:nvSpPr>
        <p:spPr>
          <a:xfrm>
            <a:off x="5577840" y="5517684"/>
            <a:ext cx="1051560" cy="530352"/>
          </a:xfrm>
          <a:prstGeom prst="roundRect">
            <a:avLst>
              <a:gd name="adj" fmla="val 10345"/>
            </a:avLst>
          </a:prstGeom>
          <a:solidFill>
            <a:srgbClr val="E9F5F2"/>
          </a:solidFill>
          <a:ln w="9525">
            <a:solidFill>
              <a:srgbClr val="188474"/>
            </a:solidFill>
            <a:prstDash val="solid"/>
          </a:ln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19CEC07-BC6C-89F0-FE2C-EC6BC1E7011E}"/>
              </a:ext>
            </a:extLst>
          </p:cNvPr>
          <p:cNvSpPr/>
          <p:nvPr/>
        </p:nvSpPr>
        <p:spPr>
          <a:xfrm>
            <a:off x="5577840" y="55176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03CBC38B-DAFD-1D41-B1FA-CD29CC27E5B9}"/>
              </a:ext>
            </a:extLst>
          </p:cNvPr>
          <p:cNvSpPr/>
          <p:nvPr/>
        </p:nvSpPr>
        <p:spPr>
          <a:xfrm>
            <a:off x="6720840" y="5517684"/>
            <a:ext cx="1051560" cy="530352"/>
          </a:xfrm>
          <a:prstGeom prst="roundRect">
            <a:avLst>
              <a:gd name="adj" fmla="val 10345"/>
            </a:avLst>
          </a:prstGeom>
          <a:solidFill>
            <a:srgbClr val="FDF0E6"/>
          </a:solidFill>
          <a:ln w="9525">
            <a:solidFill>
              <a:srgbClr val="E1671B"/>
            </a:solidFill>
            <a:prstDash val="solid"/>
          </a:ln>
        </p:spPr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9D453EF-D6C4-1378-A66B-A1A7A755B86C}"/>
              </a:ext>
            </a:extLst>
          </p:cNvPr>
          <p:cNvSpPr/>
          <p:nvPr/>
        </p:nvSpPr>
        <p:spPr>
          <a:xfrm>
            <a:off x="6720840" y="55176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30A6616-67BF-10FA-9745-B53348BB526C}"/>
              </a:ext>
            </a:extLst>
          </p:cNvPr>
          <p:cNvSpPr/>
          <p:nvPr/>
        </p:nvSpPr>
        <p:spPr>
          <a:xfrm>
            <a:off x="8229600" y="3798612"/>
            <a:ext cx="3593592" cy="2423160"/>
          </a:xfrm>
          <a:prstGeom prst="roundRect">
            <a:avLst>
              <a:gd name="adj" fmla="val 3774"/>
            </a:avLst>
          </a:prstGeom>
          <a:solidFill>
            <a:srgbClr val="E9F5F2"/>
          </a:solidFill>
          <a:ln/>
        </p:spPr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BED60E5B-9B20-E7A4-99D8-5520567D5185}"/>
              </a:ext>
            </a:extLst>
          </p:cNvPr>
          <p:cNvSpPr/>
          <p:nvPr/>
        </p:nvSpPr>
        <p:spPr>
          <a:xfrm>
            <a:off x="8458200" y="39266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Sarathi</a:t>
            </a:r>
            <a:endParaRPr lang="en-US" sz="14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BF35732-9867-45E2-5AD0-59CA9FD7301F}"/>
              </a:ext>
            </a:extLst>
          </p:cNvPr>
          <p:cNvSpPr/>
          <p:nvPr/>
        </p:nvSpPr>
        <p:spPr>
          <a:xfrm>
            <a:off x="8458200" y="4338108"/>
            <a:ext cx="146304" cy="146304"/>
          </a:xfrm>
          <a:prstGeom prst="ellipse">
            <a:avLst/>
          </a:prstGeom>
          <a:solidFill>
            <a:srgbClr val="236AAB"/>
          </a:solidFill>
          <a:ln/>
        </p:spPr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D4E8327-0D49-6D25-29A0-0243025D4755}"/>
              </a:ext>
            </a:extLst>
          </p:cNvPr>
          <p:cNvSpPr/>
          <p:nvPr/>
        </p:nvSpPr>
        <p:spPr>
          <a:xfrm>
            <a:off x="8714232" y="421923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
</a:t>
            </a:r>
            <a:r>
              <a:rPr lang="en-US" sz="90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understands the option, true cost and route before choosing.</a:t>
            </a:r>
            <a:endParaRPr lang="en-US" sz="10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7212B93-4162-5852-720A-141D7A3B19DD}"/>
              </a:ext>
            </a:extLst>
          </p:cNvPr>
          <p:cNvSpPr/>
          <p:nvPr/>
        </p:nvSpPr>
        <p:spPr>
          <a:xfrm>
            <a:off x="8458200" y="4886748"/>
            <a:ext cx="146304" cy="146304"/>
          </a:xfrm>
          <a:prstGeom prst="ellipse">
            <a:avLst/>
          </a:prstGeom>
          <a:solidFill>
            <a:srgbClr val="188474"/>
          </a:solidFill>
          <a:ln/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EBA0B307-61FA-94E0-9410-20C6BEAD7CFB}"/>
              </a:ext>
            </a:extLst>
          </p:cNvPr>
          <p:cNvSpPr/>
          <p:nvPr/>
        </p:nvSpPr>
        <p:spPr>
          <a:xfrm>
            <a:off x="8714232" y="476787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borrowing cost
</a:t>
            </a:r>
            <a:r>
              <a:rPr lang="en-US" sz="90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eligible scheme × channel combination is surfaced, not buried.</a:t>
            </a:r>
            <a:endParaRPr lang="en-US" sz="1050" dirty="0"/>
          </a:p>
        </p:txBody>
      </p:sp>
      <p:sp>
        <p:nvSpPr>
          <p:cNvPr id="17408" name="Shape 62">
            <a:extLst>
              <a:ext uri="{FF2B5EF4-FFF2-40B4-BE49-F238E27FC236}">
                <a16:creationId xmlns:a16="http://schemas.microsoft.com/office/drawing/2014/main" id="{F8EF636C-61B3-996F-57A5-FDAC81F62F85}"/>
              </a:ext>
            </a:extLst>
          </p:cNvPr>
          <p:cNvSpPr/>
          <p:nvPr/>
        </p:nvSpPr>
        <p:spPr>
          <a:xfrm>
            <a:off x="8458200" y="5435388"/>
            <a:ext cx="146304" cy="146304"/>
          </a:xfrm>
          <a:prstGeom prst="ellipse">
            <a:avLst/>
          </a:prstGeom>
          <a:solidFill>
            <a:srgbClr val="E1671B"/>
          </a:solidFill>
          <a:ln/>
        </p:spPr>
      </p:sp>
      <p:sp>
        <p:nvSpPr>
          <p:cNvPr id="17447" name="Text 63">
            <a:extLst>
              <a:ext uri="{FF2B5EF4-FFF2-40B4-BE49-F238E27FC236}">
                <a16:creationId xmlns:a16="http://schemas.microsoft.com/office/drawing/2014/main" id="{8288E8DC-E9C5-86D0-8406-1A79E6456C74}"/>
              </a:ext>
            </a:extLst>
          </p:cNvPr>
          <p:cNvSpPr/>
          <p:nvPr/>
        </p:nvSpPr>
        <p:spPr>
          <a:xfrm>
            <a:off x="8714232" y="531651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fairer routing
</a:t>
            </a:r>
            <a:r>
              <a:rPr lang="en-US" sz="90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eligible, accepting partner is found — instead of guessed.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C1D6069-4F6A-ADCF-CE04-4D58B04E81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053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NextGen Coders</a:t>
            </a:r>
            <a:endParaRPr lang="en-IN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5104CC93-038D-695A-343B-30B1200C59A8}"/>
              </a:ext>
            </a:extLst>
          </p:cNvPr>
          <p:cNvSpPr/>
          <p:nvPr/>
        </p:nvSpPr>
        <p:spPr>
          <a:xfrm>
            <a:off x="365760" y="10673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C4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BUILT BY THE TEAM</a:t>
            </a:r>
            <a:endParaRPr lang="en-US" sz="1100" dirty="0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02A6086D-F298-4428-80FA-BC43AF6209D9}"/>
              </a:ext>
            </a:extLst>
          </p:cNvPr>
          <p:cNvSpPr/>
          <p:nvPr/>
        </p:nvSpPr>
        <p:spPr>
          <a:xfrm>
            <a:off x="365760" y="303580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2813DB1E-A11A-1367-B8BA-B6922CD0AEE0}"/>
              </a:ext>
            </a:extLst>
          </p:cNvPr>
          <p:cNvSpPr/>
          <p:nvPr/>
        </p:nvSpPr>
        <p:spPr>
          <a:xfrm>
            <a:off x="4754880" y="98755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C43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USED TO BUILD AND VERIFY SARATHI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E02458-F678-B6FF-DEB7-5FB13CE4A795}"/>
              </a:ext>
            </a:extLst>
          </p:cNvPr>
          <p:cNvSpPr/>
          <p:nvPr/>
        </p:nvSpPr>
        <p:spPr>
          <a:xfrm>
            <a:off x="4754880" y="1298448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EAF1F8"/>
          </a:solidFill>
          <a:ln/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0B48433-DA8F-2336-5924-1190D0340200}"/>
              </a:ext>
            </a:extLst>
          </p:cNvPr>
          <p:cNvSpPr/>
          <p:nvPr/>
        </p:nvSpPr>
        <p:spPr>
          <a:xfrm>
            <a:off x="4919472" y="1472184"/>
            <a:ext cx="438912" cy="438912"/>
          </a:xfrm>
          <a:prstGeom prst="ellipse">
            <a:avLst/>
          </a:prstGeom>
          <a:solidFill>
            <a:srgbClr val="236AAB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B164908-BA17-3588-DBCB-A58B5C176B4F}"/>
              </a:ext>
            </a:extLst>
          </p:cNvPr>
          <p:cNvSpPr/>
          <p:nvPr/>
        </p:nvSpPr>
        <p:spPr>
          <a:xfrm>
            <a:off x="4919472" y="1472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ED75FBB-360F-4F18-BAD1-CAAD4E87ADDA}"/>
              </a:ext>
            </a:extLst>
          </p:cNvPr>
          <p:cNvSpPr/>
          <p:nvPr/>
        </p:nvSpPr>
        <p:spPr>
          <a:xfrm>
            <a:off x="5532120" y="1353312"/>
            <a:ext cx="6080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NSFDC — Official Scheme Details
</a:t>
            </a:r>
            <a:r>
              <a:rPr lang="en-US" sz="10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nsfdc.nic.in/scheme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limits, rates, tenure and channel mapping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889DF1F-490D-4B39-2F55-D8409A688E01}"/>
              </a:ext>
            </a:extLst>
          </p:cNvPr>
          <p:cNvSpPr/>
          <p:nvPr/>
        </p:nvSpPr>
        <p:spPr>
          <a:xfrm>
            <a:off x="4754880" y="2203704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E9F5F2"/>
          </a:solidFill>
          <a:ln/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0928A0D-D430-2166-2598-F45C6E38E5B1}"/>
              </a:ext>
            </a:extLst>
          </p:cNvPr>
          <p:cNvSpPr/>
          <p:nvPr/>
        </p:nvSpPr>
        <p:spPr>
          <a:xfrm>
            <a:off x="4919472" y="2377440"/>
            <a:ext cx="438912" cy="438912"/>
          </a:xfrm>
          <a:prstGeom prst="ellipse">
            <a:avLst/>
          </a:prstGeom>
          <a:solidFill>
            <a:srgbClr val="188474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E1ED694-4F39-489D-6747-24BAC9C66667}"/>
              </a:ext>
            </a:extLst>
          </p:cNvPr>
          <p:cNvSpPr/>
          <p:nvPr/>
        </p:nvSpPr>
        <p:spPr>
          <a:xfrm>
            <a:off x="4919472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8E9F104-4518-02C4-C8D3-AA2052B19575}"/>
              </a:ext>
            </a:extLst>
          </p:cNvPr>
          <p:cNvSpPr/>
          <p:nvPr/>
        </p:nvSpPr>
        <p:spPr>
          <a:xfrm>
            <a:off x="5532120" y="2258568"/>
            <a:ext cx="6080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NSFDC — Eligibility Requirements
</a:t>
            </a:r>
            <a:r>
              <a:rPr lang="en-US" sz="10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nsfdc.nic.in/eligibility-requirements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status, income ceiling and applicant conditions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2D6217D-3CE8-A1BE-B21A-7ADD1AB0971B}"/>
              </a:ext>
            </a:extLst>
          </p:cNvPr>
          <p:cNvSpPr/>
          <p:nvPr/>
        </p:nvSpPr>
        <p:spPr>
          <a:xfrm>
            <a:off x="4754880" y="310896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EFECFA"/>
          </a:solidFill>
          <a:ln/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CCAB6D6-9DAB-84F7-2A40-C6526F28DB31}"/>
              </a:ext>
            </a:extLst>
          </p:cNvPr>
          <p:cNvSpPr/>
          <p:nvPr/>
        </p:nvSpPr>
        <p:spPr>
          <a:xfrm>
            <a:off x="4919472" y="3282696"/>
            <a:ext cx="438912" cy="438912"/>
          </a:xfrm>
          <a:prstGeom prst="ellipse">
            <a:avLst/>
          </a:prstGeom>
          <a:solidFill>
            <a:srgbClr val="6C4FA1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165AE2B-8C60-7F28-E8D0-421C66DD118E}"/>
              </a:ext>
            </a:extLst>
          </p:cNvPr>
          <p:cNvSpPr/>
          <p:nvPr/>
        </p:nvSpPr>
        <p:spPr>
          <a:xfrm>
            <a:off x="4919472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44AB182-7769-968A-630E-2ECE5D83C7A9}"/>
              </a:ext>
            </a:extLst>
          </p:cNvPr>
          <p:cNvSpPr/>
          <p:nvPr/>
        </p:nvSpPr>
        <p:spPr>
          <a:xfrm>
            <a:off x="5532120" y="3163824"/>
            <a:ext cx="6080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NSFDC — Channel Partners
</a:t>
            </a:r>
            <a:r>
              <a:rPr lang="en-US" sz="10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nsfdc.nic.in/our-channel-partners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categories and routing context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61CCE13-5A72-8A63-D9D6-C9075B023AAB}"/>
              </a:ext>
            </a:extLst>
          </p:cNvPr>
          <p:cNvSpPr/>
          <p:nvPr/>
        </p:nvSpPr>
        <p:spPr>
          <a:xfrm>
            <a:off x="4754880" y="4014216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DF0E6"/>
          </a:solidFill>
          <a:ln/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7E71D41-2F3C-BBD9-FF68-FE27A38EB53F}"/>
              </a:ext>
            </a:extLst>
          </p:cNvPr>
          <p:cNvSpPr/>
          <p:nvPr/>
        </p:nvSpPr>
        <p:spPr>
          <a:xfrm>
            <a:off x="4919472" y="4187952"/>
            <a:ext cx="438912" cy="438912"/>
          </a:xfrm>
          <a:prstGeom prst="ellipse">
            <a:avLst/>
          </a:prstGeom>
          <a:solidFill>
            <a:srgbClr val="E1671B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A2FA4D6-FDCB-B3AD-00C2-56970ABAE972}"/>
              </a:ext>
            </a:extLst>
          </p:cNvPr>
          <p:cNvSpPr/>
          <p:nvPr/>
        </p:nvSpPr>
        <p:spPr>
          <a:xfrm>
            <a:off x="4919472" y="4187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E1546AF-1A82-7DB5-D895-F63E2CB447B9}"/>
              </a:ext>
            </a:extLst>
          </p:cNvPr>
          <p:cNvSpPr/>
          <p:nvPr/>
        </p:nvSpPr>
        <p:spPr>
          <a:xfrm>
            <a:off x="5532120" y="4069080"/>
            <a:ext cx="6080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PM-SURAJ
</a:t>
            </a:r>
            <a:r>
              <a:rPr lang="en-US" sz="10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pmsuraj.dosje.gov.in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MoSJE application / tracking portal</a:t>
            </a:r>
            <a:endParaRPr lang="en-US" sz="12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EAD9EA8-5FB0-A546-EA0E-596983A81DC6}"/>
              </a:ext>
            </a:extLst>
          </p:cNvPr>
          <p:cNvSpPr/>
          <p:nvPr/>
        </p:nvSpPr>
        <p:spPr>
          <a:xfrm>
            <a:off x="4754880" y="4919472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EAF1F8"/>
          </a:solidFill>
          <a:ln/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20EF7E9-9169-6D1A-3FC4-F6E5B1188380}"/>
              </a:ext>
            </a:extLst>
          </p:cNvPr>
          <p:cNvSpPr/>
          <p:nvPr/>
        </p:nvSpPr>
        <p:spPr>
          <a:xfrm>
            <a:off x="4919472" y="5093208"/>
            <a:ext cx="438912" cy="438912"/>
          </a:xfrm>
          <a:prstGeom prst="ellipse">
            <a:avLst/>
          </a:prstGeom>
          <a:solidFill>
            <a:srgbClr val="236AAB"/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C2C6AC8-3C75-E622-4632-D8640C09A2FC}"/>
              </a:ext>
            </a:extLst>
          </p:cNvPr>
          <p:cNvSpPr/>
          <p:nvPr/>
        </p:nvSpPr>
        <p:spPr>
          <a:xfrm>
            <a:off x="4919472" y="5093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A10F7CE-FF75-BAEA-68AC-9F869CD19092}"/>
              </a:ext>
            </a:extLst>
          </p:cNvPr>
          <p:cNvSpPr/>
          <p:nvPr/>
        </p:nvSpPr>
        <p:spPr>
          <a:xfrm>
            <a:off x="5532120" y="4974336"/>
            <a:ext cx="6080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SIH26092 Problem Statement
</a:t>
            </a:r>
            <a:r>
              <a:rPr lang="en-US" sz="100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Social Justice &amp; Empowerment · SIH 2026
</a:t>
            </a:r>
            <a:r>
              <a:rPr lang="en-US" sz="950" dirty="0">
                <a:solidFill>
                  <a:srgbClr val="414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requirements for recommender, calculator and geo-spatial locator</a:t>
            </a:r>
            <a:endParaRPr lang="en-US" sz="12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EAA2E19-9B7A-FA73-29D3-242A3EA29A66}"/>
              </a:ext>
            </a:extLst>
          </p:cNvPr>
          <p:cNvSpPr/>
          <p:nvPr/>
        </p:nvSpPr>
        <p:spPr>
          <a:xfrm>
            <a:off x="4754880" y="5870448"/>
            <a:ext cx="70408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36AAB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9C55047-77C1-2731-FB07-D1CCFD2E63BC}"/>
              </a:ext>
            </a:extLst>
          </p:cNvPr>
          <p:cNvSpPr/>
          <p:nvPr/>
        </p:nvSpPr>
        <p:spPr>
          <a:xfrm>
            <a:off x="4754880" y="58704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236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DATA VERIFIED AGAINST NSFDC  ·  RETRIEVED 10 SEP 2026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C4D381-5C12-4324-A337-9B6F5A1657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533"/>
          <a:stretch>
            <a:fillRect/>
          </a:stretch>
        </p:blipFill>
        <p:spPr>
          <a:xfrm>
            <a:off x="386274" y="1368784"/>
            <a:ext cx="4140006" cy="244113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3FC5A2D-8B1D-3FAA-9C72-F29CCD1C4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07872"/>
            <a:ext cx="4160520" cy="293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7598</TotalTime>
  <Words>1020</Words>
  <Application>Microsoft Macintosh PowerPoint</Application>
  <PresentationFormat>Widescreen</PresentationFormat>
  <Paragraphs>177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Aptos</vt:lpstr>
      <vt:lpstr>Arial</vt:lpstr>
      <vt:lpstr>Calibri</vt:lpstr>
      <vt:lpstr>Garamond</vt:lpstr>
      <vt:lpstr>Georgia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PowerPoint Presentation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Gajjar</cp:lastModifiedBy>
  <cp:revision>177</cp:revision>
  <dcterms:created xsi:type="dcterms:W3CDTF">2013-12-12T18:46:50Z</dcterms:created>
  <dcterms:modified xsi:type="dcterms:W3CDTF">2026-09-17T17:51:55Z</dcterms:modified>
  <cp:category/>
</cp:coreProperties>
</file>