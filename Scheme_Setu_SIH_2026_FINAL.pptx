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1850000"/>
            <a:ext cx="6400000" cy="2816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SIH26092</a:t>
            </a:r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AI-Driven Scheme Matching for Marginalized Entrepreneurs</a:t>
            </a:r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Theme- Smart Automation</a:t>
            </a:r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ID - 253</a:t>
            </a:r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Name – NextGen Coders</a:t>
            </a: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5" name="Oval 4" descr="Your startup LOGO">
            <a:extLst>
              <a:ext uri="{FF2B5EF4-FFF2-40B4-BE49-F238E27FC236}">
                <a16:creationId xmlns:a16="http://schemas.microsoft.com/office/drawing/2014/main" id="{406D91C8-64AF-D7C0-202C-DB239A37416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41053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NextGen Coders</a:t>
            </a:r>
            <a:endParaRPr lang="en-IN" dirty="0"/>
          </a:p>
        </p:txBody>
      </p:sp>
      <p:sp>
        <p:nvSpPr>
          <p:cNvPr id="15362" name="TextBox 15361"/>
          <p:cNvSpPr txBox="1"/>
          <p:nvPr/>
        </p:nvSpPr>
        <p:spPr>
          <a:xfrm>
            <a:off x="100584" y="1373929"/>
            <a:ext cx="62910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14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Solution: Sarathi – Rule-Based Scheme Recommender, Calculator &amp; Partner Locator for NSFDC Loans</a:t>
            </a:r>
            <a:endParaRPr lang="en-US" sz="14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5363" name="TextBox 15362"/>
          <p:cNvSpPr txBox="1"/>
          <p:nvPr/>
        </p:nvSpPr>
        <p:spPr>
          <a:xfrm>
            <a:off x="438912" y="1874519"/>
            <a:ext cx="5599610" cy="269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414850"/>
                </a:solidFill>
                <a:latin typeface="Aptos"/>
              </a:defRPr>
            </a:pPr>
            <a:r>
              <a:rPr sz="1150" dirty="0"/>
              <a:t>Rule-based scheme recommender + financial calculator + geo-spatial partner locator</a:t>
            </a:r>
          </a:p>
        </p:txBody>
      </p:sp>
      <p:sp>
        <p:nvSpPr>
          <p:cNvPr id="15364" name="Rectangle 15363"/>
          <p:cNvSpPr/>
          <p:nvPr/>
        </p:nvSpPr>
        <p:spPr>
          <a:xfrm>
            <a:off x="438912" y="2331720"/>
            <a:ext cx="50292" cy="438912"/>
          </a:xfrm>
          <a:prstGeom prst="rect">
            <a:avLst/>
          </a:prstGeom>
          <a:solidFill>
            <a:srgbClr val="236A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65" name="TextBox 15364"/>
          <p:cNvSpPr txBox="1"/>
          <p:nvPr/>
        </p:nvSpPr>
        <p:spPr>
          <a:xfrm>
            <a:off x="585216" y="2313432"/>
            <a:ext cx="547725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1C436C"/>
                </a:solidFill>
                <a:latin typeface="Aptos"/>
              </a:defRPr>
            </a:pPr>
            <a:r>
              <a:t>Detailed explanation of the proposed solution</a:t>
            </a:r>
          </a:p>
        </p:txBody>
      </p:sp>
      <p:sp>
        <p:nvSpPr>
          <p:cNvPr id="15366" name="TextBox 15365"/>
          <p:cNvSpPr txBox="1"/>
          <p:nvPr/>
        </p:nvSpPr>
        <p:spPr>
          <a:xfrm>
            <a:off x="603504" y="2715768"/>
            <a:ext cx="5440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40">
                <a:solidFill>
                  <a:srgbClr val="414850"/>
                </a:solidFill>
                <a:latin typeface="Aptos"/>
              </a:defRPr>
            </a:pPr>
            <a:r>
              <a:rPr sz="1100" dirty="0"/>
              <a:t>• Applicant enters income, purpose, project/course cost &amp; location.</a:t>
            </a:r>
          </a:p>
          <a:p>
            <a:pPr>
              <a:spcAft>
                <a:spcPts val="400"/>
              </a:spcAft>
              <a:defRPr sz="1040">
                <a:solidFill>
                  <a:srgbClr val="414850"/>
                </a:solidFill>
                <a:latin typeface="Aptos"/>
              </a:defRPr>
            </a:pPr>
            <a:r>
              <a:rPr sz="1100" dirty="0"/>
              <a:t>• Rule engine checks all 5 NSFDC schemes and ranks every eligible option by true cost.</a:t>
            </a:r>
          </a:p>
          <a:p>
            <a:pPr>
              <a:spcAft>
                <a:spcPts val="400"/>
              </a:spcAft>
              <a:defRPr sz="1040">
                <a:solidFill>
                  <a:srgbClr val="414850"/>
                </a:solidFill>
                <a:latin typeface="Aptos"/>
              </a:defRPr>
            </a:pPr>
            <a:r>
              <a:rPr sz="1100" dirty="0"/>
              <a:t>• Calculator handles quarterly instalment, interest &amp; moratorium; locator finds the nearest eligible partner.</a:t>
            </a:r>
          </a:p>
        </p:txBody>
      </p:sp>
      <p:sp>
        <p:nvSpPr>
          <p:cNvPr id="15367" name="Rectangle 15366"/>
          <p:cNvSpPr/>
          <p:nvPr/>
        </p:nvSpPr>
        <p:spPr>
          <a:xfrm>
            <a:off x="438912" y="3611880"/>
            <a:ext cx="50292" cy="438912"/>
          </a:xfrm>
          <a:prstGeom prst="rect">
            <a:avLst/>
          </a:prstGeom>
          <a:solidFill>
            <a:srgbClr val="188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68" name="TextBox 15367"/>
          <p:cNvSpPr txBox="1"/>
          <p:nvPr/>
        </p:nvSpPr>
        <p:spPr>
          <a:xfrm>
            <a:off x="585216" y="3593592"/>
            <a:ext cx="547725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1C436C"/>
                </a:solidFill>
                <a:latin typeface="Aptos"/>
              </a:defRPr>
            </a:pPr>
            <a:r>
              <a:t>How it addresses the problem</a:t>
            </a:r>
          </a:p>
        </p:txBody>
      </p:sp>
      <p:sp>
        <p:nvSpPr>
          <p:cNvPr id="15369" name="TextBox 15368"/>
          <p:cNvSpPr txBox="1"/>
          <p:nvPr/>
        </p:nvSpPr>
        <p:spPr>
          <a:xfrm>
            <a:off x="603504" y="3995928"/>
            <a:ext cx="5440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40">
                <a:solidFill>
                  <a:srgbClr val="414850"/>
                </a:solidFill>
                <a:latin typeface="Aptos"/>
              </a:defRPr>
            </a:pPr>
            <a:r>
              <a:rPr sz="1100" dirty="0"/>
              <a:t>• Removes guesswork between overlapping schemes using the applicant’s own numbers.</a:t>
            </a:r>
          </a:p>
          <a:p>
            <a:pPr>
              <a:spcAft>
                <a:spcPts val="400"/>
              </a:spcAft>
              <a:defRPr sz="1040">
                <a:solidFill>
                  <a:srgbClr val="414850"/>
                </a:solidFill>
                <a:latin typeface="Aptos"/>
              </a:defRPr>
            </a:pPr>
            <a:r>
              <a:rPr sz="1100" dirty="0"/>
              <a:t>• Filters partners by scheme support and acceptance status — not just distance.</a:t>
            </a:r>
          </a:p>
          <a:p>
            <a:pPr>
              <a:spcAft>
                <a:spcPts val="400"/>
              </a:spcAft>
              <a:defRPr sz="1040">
                <a:solidFill>
                  <a:srgbClr val="414850"/>
                </a:solidFill>
                <a:latin typeface="Aptos"/>
              </a:defRPr>
            </a:pPr>
            <a:r>
              <a:rPr sz="1100" dirty="0"/>
              <a:t>• English + Hindi interface gives beneficiaries a simple, direct decision path.</a:t>
            </a:r>
          </a:p>
        </p:txBody>
      </p:sp>
      <p:sp>
        <p:nvSpPr>
          <p:cNvPr id="15370" name="Rectangle 15369"/>
          <p:cNvSpPr/>
          <p:nvPr/>
        </p:nvSpPr>
        <p:spPr>
          <a:xfrm>
            <a:off x="438912" y="4892040"/>
            <a:ext cx="50292" cy="438912"/>
          </a:xfrm>
          <a:prstGeom prst="rect">
            <a:avLst/>
          </a:prstGeom>
          <a:solidFill>
            <a:srgbClr val="E16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1" name="TextBox 15370"/>
          <p:cNvSpPr txBox="1"/>
          <p:nvPr/>
        </p:nvSpPr>
        <p:spPr>
          <a:xfrm>
            <a:off x="585216" y="4873752"/>
            <a:ext cx="547725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1C436C"/>
                </a:solidFill>
                <a:latin typeface="Aptos"/>
              </a:defRPr>
            </a:pPr>
            <a:r>
              <a:t>Innovation and uniqueness of the solution</a:t>
            </a:r>
          </a:p>
        </p:txBody>
      </p:sp>
      <p:sp>
        <p:nvSpPr>
          <p:cNvPr id="15372" name="TextBox 15371"/>
          <p:cNvSpPr txBox="1"/>
          <p:nvPr/>
        </p:nvSpPr>
        <p:spPr>
          <a:xfrm>
            <a:off x="603504" y="5276088"/>
            <a:ext cx="5440680" cy="702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40">
                <a:solidFill>
                  <a:srgbClr val="414850"/>
                </a:solidFill>
                <a:latin typeface="Aptos"/>
              </a:defRPr>
            </a:pPr>
            <a:r>
              <a:rPr sz="1100" dirty="0"/>
              <a:t>• Recommends the best scheme × channel combination, not just a scheme.</a:t>
            </a:r>
          </a:p>
          <a:p>
            <a:pPr>
              <a:spcAft>
                <a:spcPts val="400"/>
              </a:spcAft>
              <a:defRPr sz="1040">
                <a:solidFill>
                  <a:srgbClr val="414850"/>
                </a:solidFill>
                <a:latin typeface="Aptos"/>
              </a:defRPr>
            </a:pPr>
            <a:r>
              <a:rPr sz="1100" dirty="0"/>
              <a:t>• Highlights the ₹18,062 potential interest gap for the same ₹1.08 lakh loan.</a:t>
            </a:r>
          </a:p>
          <a:p>
            <a:pPr>
              <a:spcAft>
                <a:spcPts val="400"/>
              </a:spcAft>
              <a:defRPr sz="1040">
                <a:solidFill>
                  <a:srgbClr val="414850"/>
                </a:solidFill>
                <a:latin typeface="Aptos"/>
              </a:defRPr>
            </a:pPr>
            <a:r>
              <a:rPr sz="1100" dirty="0"/>
              <a:t>• Rules decide eligibility and money; AI only explains the finished decision.</a:t>
            </a:r>
          </a:p>
        </p:txBody>
      </p:sp>
      <p:sp>
        <p:nvSpPr>
          <p:cNvPr id="15373" name="Rounded Rectangle 15372"/>
          <p:cNvSpPr/>
          <p:nvPr/>
        </p:nvSpPr>
        <p:spPr>
          <a:xfrm>
            <a:off x="6096000" y="1417320"/>
            <a:ext cx="5654040" cy="452628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4" name="TextBox 15373"/>
          <p:cNvSpPr txBox="1"/>
          <p:nvPr/>
        </p:nvSpPr>
        <p:spPr>
          <a:xfrm>
            <a:off x="6611112" y="1600198"/>
            <a:ext cx="34655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236AAB"/>
                </a:solidFill>
                <a:latin typeface="Aptos"/>
              </a:defRPr>
            </a:pPr>
            <a:r>
              <a:rPr sz="1400" dirty="0"/>
              <a:t>SARATHI — AT A GLANCE</a:t>
            </a:r>
          </a:p>
        </p:txBody>
      </p:sp>
      <p:pic>
        <p:nvPicPr>
          <p:cNvPr id="15375" name="Picture 15374" descr="a_clean_vector_infographic_on_a_transparent_backg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0521" y="1874518"/>
            <a:ext cx="5640423" cy="2652400"/>
          </a:xfrm>
          <a:prstGeom prst="rect">
            <a:avLst/>
          </a:prstGeom>
        </p:spPr>
      </p:pic>
      <p:sp>
        <p:nvSpPr>
          <p:cNvPr id="15376" name="Rounded Rectangle 15375"/>
          <p:cNvSpPr/>
          <p:nvPr/>
        </p:nvSpPr>
        <p:spPr>
          <a:xfrm>
            <a:off x="6749032" y="4702831"/>
            <a:ext cx="4343400" cy="667512"/>
          </a:xfrm>
          <a:prstGeom prst="roundRect">
            <a:avLst/>
          </a:prstGeom>
          <a:solidFill>
            <a:srgbClr val="FFF7EF"/>
          </a:solidFill>
          <a:ln>
            <a:solidFill>
              <a:srgbClr val="F4B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50" b="1">
                <a:solidFill>
                  <a:srgbClr val="E1671B"/>
                </a:solidFill>
                <a:latin typeface="Aptos"/>
              </a:defRPr>
            </a:pPr>
            <a:r>
              <a:rPr dirty="0"/>
              <a:t>Choose the right scheme → know the true cost → reach the right partner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41053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NextGen Coders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57200" y="1353312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C436C"/>
                </a:solidFill>
                <a:latin typeface="Aptos"/>
              </a:defRPr>
            </a:pPr>
            <a:r>
              <a:rPr dirty="0"/>
              <a:t>Technologies to be used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457200" y="1783080"/>
            <a:ext cx="2148840" cy="1051560"/>
          </a:xfrm>
          <a:prstGeom prst="roundRect">
            <a:avLst/>
          </a:prstGeom>
          <a:solidFill>
            <a:srgbClr val="ECF5FC"/>
          </a:solidFill>
          <a:ln w="10160"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2" name="Rectangle 17411"/>
          <p:cNvSpPr/>
          <p:nvPr/>
        </p:nvSpPr>
        <p:spPr>
          <a:xfrm>
            <a:off x="457200" y="1783080"/>
            <a:ext cx="50292" cy="1051560"/>
          </a:xfrm>
          <a:prstGeom prst="rect">
            <a:avLst/>
          </a:prstGeom>
          <a:solidFill>
            <a:srgbClr val="236A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3" name="TextBox 17412"/>
          <p:cNvSpPr txBox="1"/>
          <p:nvPr/>
        </p:nvSpPr>
        <p:spPr>
          <a:xfrm>
            <a:off x="621792" y="1883664"/>
            <a:ext cx="1874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C436C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609600" y="2084832"/>
            <a:ext cx="1886712" cy="738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60" b="0">
                <a:solidFill>
                  <a:srgbClr val="46505A"/>
                </a:solidFill>
                <a:latin typeface="Aptos"/>
              </a:defRPr>
            </a:pPr>
            <a:r>
              <a:rPr sz="1400" dirty="0"/>
              <a:t>React + </a:t>
            </a:r>
            <a:r>
              <a:rPr lang="en-US" sz="1400" dirty="0"/>
              <a:t>CSS</a:t>
            </a:r>
            <a:br>
              <a:rPr sz="1400" dirty="0"/>
            </a:br>
            <a:r>
              <a:rPr lang="en-US" sz="1400" dirty="0"/>
              <a:t>HTML</a:t>
            </a:r>
            <a:r>
              <a:rPr sz="1400" dirty="0"/>
              <a:t> + OpenStreetMap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2761488" y="1783080"/>
            <a:ext cx="2148840" cy="1051560"/>
          </a:xfrm>
          <a:prstGeom prst="roundRect">
            <a:avLst/>
          </a:prstGeom>
          <a:solidFill>
            <a:srgbClr val="EDF8F5"/>
          </a:solidFill>
          <a:ln w="10160"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6" name="Rectangle 17415"/>
          <p:cNvSpPr/>
          <p:nvPr/>
        </p:nvSpPr>
        <p:spPr>
          <a:xfrm>
            <a:off x="2761488" y="1783080"/>
            <a:ext cx="50292" cy="1051560"/>
          </a:xfrm>
          <a:prstGeom prst="rect">
            <a:avLst/>
          </a:prstGeom>
          <a:solidFill>
            <a:srgbClr val="188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7" name="TextBox 17416"/>
          <p:cNvSpPr txBox="1"/>
          <p:nvPr/>
        </p:nvSpPr>
        <p:spPr>
          <a:xfrm>
            <a:off x="2926080" y="1883664"/>
            <a:ext cx="1874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C436C"/>
                </a:solidFill>
                <a:latin typeface="Aptos"/>
              </a:defRPr>
            </a:pPr>
            <a:r>
              <a:t>Backend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2880360" y="2084832"/>
            <a:ext cx="192024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60" b="0">
                <a:solidFill>
                  <a:srgbClr val="46505A"/>
                </a:solidFill>
                <a:latin typeface="Aptos"/>
              </a:defRPr>
            </a:pPr>
            <a:r>
              <a:rPr sz="1400" dirty="0"/>
              <a:t>Python + </a:t>
            </a:r>
            <a:r>
              <a:rPr sz="1400" dirty="0" err="1"/>
              <a:t>FastAPI</a:t>
            </a:r>
            <a:br>
              <a:rPr sz="1400" dirty="0"/>
            </a:br>
            <a:r>
              <a:rPr sz="1400" dirty="0"/>
              <a:t>REST API + rule engine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457200" y="2990088"/>
            <a:ext cx="2148840" cy="1051560"/>
          </a:xfrm>
          <a:prstGeom prst="roundRect">
            <a:avLst/>
          </a:prstGeom>
          <a:solidFill>
            <a:srgbClr val="F4F2FB"/>
          </a:solidFill>
          <a:ln w="10160"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0" name="Rectangle 17419"/>
          <p:cNvSpPr/>
          <p:nvPr/>
        </p:nvSpPr>
        <p:spPr>
          <a:xfrm>
            <a:off x="457200" y="2990088"/>
            <a:ext cx="50292" cy="1051560"/>
          </a:xfrm>
          <a:prstGeom prst="rect">
            <a:avLst/>
          </a:prstGeom>
          <a:solidFill>
            <a:srgbClr val="5B4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1" name="TextBox 17420"/>
          <p:cNvSpPr txBox="1"/>
          <p:nvPr/>
        </p:nvSpPr>
        <p:spPr>
          <a:xfrm>
            <a:off x="621792" y="3090672"/>
            <a:ext cx="1874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C436C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621792" y="3264408"/>
            <a:ext cx="1828800" cy="738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60" b="0">
                <a:solidFill>
                  <a:srgbClr val="46505A"/>
                </a:solidFill>
                <a:latin typeface="Aptos"/>
              </a:defRPr>
            </a:pPr>
            <a:r>
              <a:rPr sz="1400" dirty="0"/>
              <a:t>Structured JSON</a:t>
            </a:r>
            <a:br>
              <a:rPr sz="1400" dirty="0"/>
            </a:br>
            <a:r>
              <a:rPr sz="1400" dirty="0"/>
              <a:t>No database required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2761488" y="2990088"/>
            <a:ext cx="2148840" cy="1051560"/>
          </a:xfrm>
          <a:prstGeom prst="roundRect">
            <a:avLst/>
          </a:prstGeom>
          <a:solidFill>
            <a:srgbClr val="FFF5EB"/>
          </a:solidFill>
          <a:ln w="10160"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4" name="Rectangle 17423"/>
          <p:cNvSpPr/>
          <p:nvPr/>
        </p:nvSpPr>
        <p:spPr>
          <a:xfrm>
            <a:off x="2761488" y="2990088"/>
            <a:ext cx="50292" cy="1051560"/>
          </a:xfrm>
          <a:prstGeom prst="rect">
            <a:avLst/>
          </a:prstGeom>
          <a:solidFill>
            <a:srgbClr val="E16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5" name="TextBox 17424"/>
          <p:cNvSpPr txBox="1"/>
          <p:nvPr/>
        </p:nvSpPr>
        <p:spPr>
          <a:xfrm>
            <a:off x="2926080" y="3090672"/>
            <a:ext cx="1874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C436C"/>
                </a:solidFill>
                <a:latin typeface="Aptos"/>
              </a:defRPr>
            </a:pPr>
            <a:r>
              <a:t>AI layer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2834640" y="3264407"/>
            <a:ext cx="2276856" cy="738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40" b="0">
                <a:solidFill>
                  <a:srgbClr val="46505A"/>
                </a:solidFill>
                <a:latin typeface="Aptos"/>
              </a:defRPr>
            </a:pPr>
            <a:r>
              <a:rPr sz="1400" dirty="0"/>
              <a:t>Optional explanation</a:t>
            </a:r>
            <a:r>
              <a:rPr lang="en-IN" sz="1400" dirty="0"/>
              <a:t>,</a:t>
            </a:r>
            <a:br>
              <a:rPr sz="1400" dirty="0"/>
            </a:br>
            <a:r>
              <a:rPr sz="1400" dirty="0"/>
              <a:t>Never decides the numbers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457200" y="4261104"/>
            <a:ext cx="4480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C436C"/>
                </a:solidFill>
                <a:latin typeface="Aptos"/>
              </a:defRPr>
            </a:pPr>
            <a:r>
              <a:t>Methodology and process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457200" y="4709160"/>
            <a:ext cx="932688" cy="8046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9" name="Oval 17428"/>
          <p:cNvSpPr/>
          <p:nvPr/>
        </p:nvSpPr>
        <p:spPr>
          <a:xfrm>
            <a:off x="758952" y="4617720"/>
            <a:ext cx="329184" cy="329184"/>
          </a:xfrm>
          <a:prstGeom prst="ellipse">
            <a:avLst/>
          </a:prstGeom>
          <a:solidFill>
            <a:srgbClr val="236A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530352" y="5010912"/>
            <a:ext cx="78638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19" b="1">
                <a:solidFill>
                  <a:srgbClr val="1C436C"/>
                </a:solidFill>
                <a:latin typeface="Aptos"/>
              </a:defRPr>
            </a:pPr>
            <a:r>
              <a:t>Applicant</a:t>
            </a:r>
            <a:br/>
            <a:r>
              <a:t>Profile</a:t>
            </a:r>
          </a:p>
        </p:txBody>
      </p:sp>
      <p:cxnSp>
        <p:nvCxnSpPr>
          <p:cNvPr id="17431" name="Connector 17430"/>
          <p:cNvCxnSpPr/>
          <p:nvPr/>
        </p:nvCxnSpPr>
        <p:spPr>
          <a:xfrm>
            <a:off x="1399032" y="5111496"/>
            <a:ext cx="155448" cy="0"/>
          </a:xfrm>
          <a:prstGeom prst="line">
            <a:avLst/>
          </a:prstGeom>
          <a:ln w="19050">
            <a:solidFill>
              <a:srgbClr val="7380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2" name="Rounded Rectangle 17431"/>
          <p:cNvSpPr/>
          <p:nvPr/>
        </p:nvSpPr>
        <p:spPr>
          <a:xfrm>
            <a:off x="1591056" y="4709160"/>
            <a:ext cx="932688" cy="8046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3" name="Oval 17432"/>
          <p:cNvSpPr/>
          <p:nvPr/>
        </p:nvSpPr>
        <p:spPr>
          <a:xfrm>
            <a:off x="1892807" y="4617720"/>
            <a:ext cx="329184" cy="329184"/>
          </a:xfrm>
          <a:prstGeom prst="ellipse">
            <a:avLst/>
          </a:prstGeom>
          <a:solidFill>
            <a:srgbClr val="188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1664208" y="5010912"/>
            <a:ext cx="78638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19" b="1">
                <a:solidFill>
                  <a:srgbClr val="1C436C"/>
                </a:solidFill>
                <a:latin typeface="Aptos"/>
              </a:defRPr>
            </a:pPr>
            <a:r>
              <a:t>Eligibility</a:t>
            </a:r>
            <a:br/>
            <a:r>
              <a:t>Engine</a:t>
            </a:r>
          </a:p>
        </p:txBody>
      </p:sp>
      <p:cxnSp>
        <p:nvCxnSpPr>
          <p:cNvPr id="17435" name="Connector 17434"/>
          <p:cNvCxnSpPr/>
          <p:nvPr/>
        </p:nvCxnSpPr>
        <p:spPr>
          <a:xfrm>
            <a:off x="2532888" y="5111496"/>
            <a:ext cx="155448" cy="0"/>
          </a:xfrm>
          <a:prstGeom prst="line">
            <a:avLst/>
          </a:prstGeom>
          <a:ln w="19050">
            <a:solidFill>
              <a:srgbClr val="7380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6" name="Rounded Rectangle 17435"/>
          <p:cNvSpPr/>
          <p:nvPr/>
        </p:nvSpPr>
        <p:spPr>
          <a:xfrm>
            <a:off x="2724912" y="4709160"/>
            <a:ext cx="932688" cy="8046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7" name="Oval 17436"/>
          <p:cNvSpPr/>
          <p:nvPr/>
        </p:nvSpPr>
        <p:spPr>
          <a:xfrm>
            <a:off x="3026664" y="4617720"/>
            <a:ext cx="329184" cy="329184"/>
          </a:xfrm>
          <a:prstGeom prst="ellipse">
            <a:avLst/>
          </a:prstGeom>
          <a:solidFill>
            <a:srgbClr val="5B4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2798064" y="5010912"/>
            <a:ext cx="78638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19" b="1">
                <a:solidFill>
                  <a:srgbClr val="1C436C"/>
                </a:solidFill>
                <a:latin typeface="Aptos"/>
              </a:defRPr>
            </a:pPr>
            <a:r>
              <a:t>Ranking +</a:t>
            </a:r>
            <a:br/>
            <a:r>
              <a:t>Calculator</a:t>
            </a:r>
          </a:p>
        </p:txBody>
      </p:sp>
      <p:cxnSp>
        <p:nvCxnSpPr>
          <p:cNvPr id="17439" name="Connector 17438"/>
          <p:cNvCxnSpPr/>
          <p:nvPr/>
        </p:nvCxnSpPr>
        <p:spPr>
          <a:xfrm>
            <a:off x="3666744" y="5111496"/>
            <a:ext cx="155447" cy="0"/>
          </a:xfrm>
          <a:prstGeom prst="line">
            <a:avLst/>
          </a:prstGeom>
          <a:ln w="19050">
            <a:solidFill>
              <a:srgbClr val="7380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0" name="Rounded Rectangle 17439"/>
          <p:cNvSpPr/>
          <p:nvPr/>
        </p:nvSpPr>
        <p:spPr>
          <a:xfrm>
            <a:off x="3858768" y="4709160"/>
            <a:ext cx="932688" cy="8046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1" name="Oval 17440"/>
          <p:cNvSpPr/>
          <p:nvPr/>
        </p:nvSpPr>
        <p:spPr>
          <a:xfrm>
            <a:off x="4160520" y="4617720"/>
            <a:ext cx="329184" cy="329184"/>
          </a:xfrm>
          <a:prstGeom prst="ellipse">
            <a:avLst/>
          </a:prstGeom>
          <a:solidFill>
            <a:srgbClr val="E16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3931920" y="5010912"/>
            <a:ext cx="78638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19" b="1">
                <a:solidFill>
                  <a:srgbClr val="1C436C"/>
                </a:solidFill>
                <a:latin typeface="Aptos"/>
              </a:defRPr>
            </a:pPr>
            <a:r>
              <a:t>Partner</a:t>
            </a:r>
            <a:br/>
            <a:r>
              <a:t>Locator</a:t>
            </a:r>
          </a:p>
        </p:txBody>
      </p:sp>
      <p:cxnSp>
        <p:nvCxnSpPr>
          <p:cNvPr id="17443" name="Connector 17442"/>
          <p:cNvCxnSpPr/>
          <p:nvPr/>
        </p:nvCxnSpPr>
        <p:spPr>
          <a:xfrm>
            <a:off x="4800600" y="5111496"/>
            <a:ext cx="155448" cy="0"/>
          </a:xfrm>
          <a:prstGeom prst="line">
            <a:avLst/>
          </a:prstGeom>
          <a:ln w="19050">
            <a:solidFill>
              <a:srgbClr val="7380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4" name="Rounded Rectangle 17443"/>
          <p:cNvSpPr/>
          <p:nvPr/>
        </p:nvSpPr>
        <p:spPr>
          <a:xfrm>
            <a:off x="4992624" y="4709160"/>
            <a:ext cx="932688" cy="8046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5" name="Oval 17444"/>
          <p:cNvSpPr/>
          <p:nvPr/>
        </p:nvSpPr>
        <p:spPr>
          <a:xfrm>
            <a:off x="5294376" y="4617720"/>
            <a:ext cx="329184" cy="329184"/>
          </a:xfrm>
          <a:prstGeom prst="ellipse">
            <a:avLst/>
          </a:prstGeom>
          <a:solidFill>
            <a:srgbClr val="236A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7446" name="TextBox 17445"/>
          <p:cNvSpPr txBox="1"/>
          <p:nvPr/>
        </p:nvSpPr>
        <p:spPr>
          <a:xfrm>
            <a:off x="5065776" y="5010912"/>
            <a:ext cx="78638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19" b="1">
                <a:solidFill>
                  <a:srgbClr val="1C436C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7447" name="Rounded Rectangle 17446"/>
          <p:cNvSpPr/>
          <p:nvPr/>
        </p:nvSpPr>
        <p:spPr>
          <a:xfrm>
            <a:off x="6263640" y="1353312"/>
            <a:ext cx="5486400" cy="4800600"/>
          </a:xfrm>
          <a:prstGeom prst="roundRect">
            <a:avLst/>
          </a:prstGeom>
          <a:solidFill>
            <a:srgbClr val="F7FAFC"/>
          </a:solidFill>
          <a:ln w="10160"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8" name="TextBox 17447"/>
          <p:cNvSpPr txBox="1"/>
          <p:nvPr/>
        </p:nvSpPr>
        <p:spPr>
          <a:xfrm>
            <a:off x="6510528" y="1536192"/>
            <a:ext cx="4937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36AAB"/>
                </a:solidFill>
                <a:latin typeface="Aptos"/>
              </a:defRPr>
            </a:pPr>
            <a:r>
              <a:t>SYSTEM FLOW</a:t>
            </a:r>
          </a:p>
        </p:txBody>
      </p:sp>
      <p:sp>
        <p:nvSpPr>
          <p:cNvPr id="17449" name="Rounded Rectangle 17448"/>
          <p:cNvSpPr/>
          <p:nvPr/>
        </p:nvSpPr>
        <p:spPr>
          <a:xfrm>
            <a:off x="6537960" y="1874519"/>
            <a:ext cx="150876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50" name="Rectangle 17449"/>
          <p:cNvSpPr/>
          <p:nvPr/>
        </p:nvSpPr>
        <p:spPr>
          <a:xfrm>
            <a:off x="6537960" y="1874519"/>
            <a:ext cx="50292" cy="1143000"/>
          </a:xfrm>
          <a:prstGeom prst="rect">
            <a:avLst/>
          </a:prstGeom>
          <a:solidFill>
            <a:srgbClr val="236A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51" name="TextBox 17450"/>
          <p:cNvSpPr txBox="1"/>
          <p:nvPr/>
        </p:nvSpPr>
        <p:spPr>
          <a:xfrm>
            <a:off x="6702552" y="1975103"/>
            <a:ext cx="123443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C436C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7452" name="TextBox 17451"/>
          <p:cNvSpPr txBox="1"/>
          <p:nvPr/>
        </p:nvSpPr>
        <p:spPr>
          <a:xfrm>
            <a:off x="6702552" y="2151971"/>
            <a:ext cx="1005840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40" b="0">
                <a:solidFill>
                  <a:srgbClr val="46505A"/>
                </a:solidFill>
                <a:latin typeface="Aptos"/>
              </a:defRPr>
            </a:pPr>
            <a:r>
              <a:rPr sz="1400" dirty="0"/>
              <a:t>Income</a:t>
            </a:r>
            <a:br>
              <a:rPr sz="1400" dirty="0"/>
            </a:br>
            <a:r>
              <a:rPr sz="1400" dirty="0"/>
              <a:t>Purpose</a:t>
            </a:r>
            <a:br>
              <a:rPr sz="1400" dirty="0"/>
            </a:br>
            <a:r>
              <a:rPr sz="1400" dirty="0"/>
              <a:t>Cost</a:t>
            </a:r>
            <a:br>
              <a:rPr sz="1400" dirty="0"/>
            </a:br>
            <a:r>
              <a:rPr sz="1400" dirty="0"/>
              <a:t>Location</a:t>
            </a:r>
          </a:p>
        </p:txBody>
      </p:sp>
      <p:sp>
        <p:nvSpPr>
          <p:cNvPr id="17453" name="Rounded Rectangle 17452"/>
          <p:cNvSpPr/>
          <p:nvPr/>
        </p:nvSpPr>
        <p:spPr>
          <a:xfrm>
            <a:off x="8321040" y="1874519"/>
            <a:ext cx="160020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54" name="Rectangle 17453"/>
          <p:cNvSpPr/>
          <p:nvPr/>
        </p:nvSpPr>
        <p:spPr>
          <a:xfrm>
            <a:off x="8321040" y="1874519"/>
            <a:ext cx="50292" cy="1143000"/>
          </a:xfrm>
          <a:prstGeom prst="rect">
            <a:avLst/>
          </a:prstGeom>
          <a:solidFill>
            <a:srgbClr val="188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55" name="TextBox 17454"/>
          <p:cNvSpPr txBox="1"/>
          <p:nvPr/>
        </p:nvSpPr>
        <p:spPr>
          <a:xfrm>
            <a:off x="8485632" y="1975103"/>
            <a:ext cx="13258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C436C"/>
                </a:solidFill>
                <a:latin typeface="Aptos"/>
              </a:defRPr>
            </a:pPr>
            <a:r>
              <a:t>RULE ENGINE</a:t>
            </a:r>
          </a:p>
        </p:txBody>
      </p:sp>
      <p:sp>
        <p:nvSpPr>
          <p:cNvPr id="17456" name="TextBox 17455"/>
          <p:cNvSpPr txBox="1"/>
          <p:nvPr/>
        </p:nvSpPr>
        <p:spPr>
          <a:xfrm>
            <a:off x="8485632" y="2151971"/>
            <a:ext cx="1325880" cy="738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40" b="0">
                <a:solidFill>
                  <a:srgbClr val="46505A"/>
                </a:solidFill>
                <a:latin typeface="Aptos"/>
              </a:defRPr>
            </a:pPr>
            <a:r>
              <a:rPr sz="1400" dirty="0"/>
              <a:t>All 5 schemes</a:t>
            </a:r>
            <a:br>
              <a:rPr sz="1400" dirty="0"/>
            </a:br>
            <a:r>
              <a:rPr sz="1400" dirty="0"/>
              <a:t>Eligibility + ranking</a:t>
            </a:r>
          </a:p>
        </p:txBody>
      </p:sp>
      <p:sp>
        <p:nvSpPr>
          <p:cNvPr id="17457" name="Rounded Rectangle 17456"/>
          <p:cNvSpPr/>
          <p:nvPr/>
        </p:nvSpPr>
        <p:spPr>
          <a:xfrm>
            <a:off x="10195560" y="1874519"/>
            <a:ext cx="123444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58" name="Rectangle 17457"/>
          <p:cNvSpPr/>
          <p:nvPr/>
        </p:nvSpPr>
        <p:spPr>
          <a:xfrm>
            <a:off x="10195560" y="1874519"/>
            <a:ext cx="50292" cy="1143000"/>
          </a:xfrm>
          <a:prstGeom prst="rect">
            <a:avLst/>
          </a:prstGeom>
          <a:solidFill>
            <a:srgbClr val="E16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59" name="TextBox 17458"/>
          <p:cNvSpPr txBox="1"/>
          <p:nvPr/>
        </p:nvSpPr>
        <p:spPr>
          <a:xfrm>
            <a:off x="10360152" y="1975103"/>
            <a:ext cx="960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1C436C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17460" name="TextBox 17459"/>
          <p:cNvSpPr txBox="1"/>
          <p:nvPr/>
        </p:nvSpPr>
        <p:spPr>
          <a:xfrm>
            <a:off x="10337292" y="2130551"/>
            <a:ext cx="1005840" cy="738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0" b="0">
                <a:solidFill>
                  <a:srgbClr val="46505A"/>
                </a:solidFill>
                <a:latin typeface="Aptos"/>
              </a:defRPr>
            </a:pPr>
            <a:r>
              <a:rPr sz="1400" dirty="0"/>
              <a:t>True cost</a:t>
            </a:r>
            <a:br>
              <a:rPr sz="1400" dirty="0"/>
            </a:br>
            <a:r>
              <a:rPr sz="1400" dirty="0"/>
              <a:t>+ best route</a:t>
            </a:r>
          </a:p>
        </p:txBody>
      </p:sp>
      <p:sp>
        <p:nvSpPr>
          <p:cNvPr id="17461" name="Rounded Rectangle 17460"/>
          <p:cNvSpPr/>
          <p:nvPr/>
        </p:nvSpPr>
        <p:spPr>
          <a:xfrm>
            <a:off x="6537960" y="3401568"/>
            <a:ext cx="2148840" cy="1170432"/>
          </a:xfrm>
          <a:prstGeom prst="roundRect">
            <a:avLst/>
          </a:prstGeom>
          <a:solidFill>
            <a:srgbClr val="F4F2FB"/>
          </a:solidFill>
          <a:ln w="10160"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62" name="Rectangle 17461"/>
          <p:cNvSpPr/>
          <p:nvPr/>
        </p:nvSpPr>
        <p:spPr>
          <a:xfrm>
            <a:off x="6537960" y="3401568"/>
            <a:ext cx="50292" cy="1170432"/>
          </a:xfrm>
          <a:prstGeom prst="rect">
            <a:avLst/>
          </a:prstGeom>
          <a:solidFill>
            <a:srgbClr val="5B4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63" name="TextBox 17462"/>
          <p:cNvSpPr txBox="1"/>
          <p:nvPr/>
        </p:nvSpPr>
        <p:spPr>
          <a:xfrm>
            <a:off x="6702552" y="3502152"/>
            <a:ext cx="1874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C436C"/>
                </a:solidFill>
                <a:latin typeface="Aptos"/>
              </a:defRPr>
            </a:pPr>
            <a:r>
              <a:t>Financial Calculator</a:t>
            </a:r>
          </a:p>
        </p:txBody>
      </p:sp>
      <p:sp>
        <p:nvSpPr>
          <p:cNvPr id="17464" name="TextBox 17463"/>
          <p:cNvSpPr txBox="1"/>
          <p:nvPr/>
        </p:nvSpPr>
        <p:spPr>
          <a:xfrm>
            <a:off x="6702552" y="3867912"/>
            <a:ext cx="187452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40" b="0">
                <a:solidFill>
                  <a:srgbClr val="46505A"/>
                </a:solidFill>
                <a:latin typeface="Aptos"/>
              </a:defRPr>
            </a:pPr>
            <a:r>
              <a:rPr sz="1400" dirty="0"/>
              <a:t>Quarterly instalment</a:t>
            </a:r>
            <a:br>
              <a:rPr sz="1400" dirty="0"/>
            </a:br>
            <a:r>
              <a:rPr sz="1400" dirty="0"/>
              <a:t>Interest + moratorium</a:t>
            </a:r>
          </a:p>
        </p:txBody>
      </p:sp>
      <p:sp>
        <p:nvSpPr>
          <p:cNvPr id="17465" name="Rounded Rectangle 17464"/>
          <p:cNvSpPr/>
          <p:nvPr/>
        </p:nvSpPr>
        <p:spPr>
          <a:xfrm>
            <a:off x="8887968" y="3401568"/>
            <a:ext cx="2148840" cy="1170432"/>
          </a:xfrm>
          <a:prstGeom prst="roundRect">
            <a:avLst/>
          </a:prstGeom>
          <a:solidFill>
            <a:srgbClr val="FFF5EB"/>
          </a:solidFill>
          <a:ln w="10160"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66" name="Rectangle 17465"/>
          <p:cNvSpPr/>
          <p:nvPr/>
        </p:nvSpPr>
        <p:spPr>
          <a:xfrm>
            <a:off x="8887968" y="3401568"/>
            <a:ext cx="50292" cy="1170432"/>
          </a:xfrm>
          <a:prstGeom prst="rect">
            <a:avLst/>
          </a:prstGeom>
          <a:solidFill>
            <a:srgbClr val="E16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67" name="TextBox 17466"/>
          <p:cNvSpPr txBox="1"/>
          <p:nvPr/>
        </p:nvSpPr>
        <p:spPr>
          <a:xfrm>
            <a:off x="9052560" y="3502152"/>
            <a:ext cx="1874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C436C"/>
                </a:solidFill>
                <a:latin typeface="Aptos"/>
              </a:defRPr>
            </a:pPr>
            <a:r>
              <a:t>Partner Locator</a:t>
            </a:r>
          </a:p>
        </p:txBody>
      </p:sp>
      <p:sp>
        <p:nvSpPr>
          <p:cNvPr id="17468" name="TextBox 17467"/>
          <p:cNvSpPr txBox="1"/>
          <p:nvPr/>
        </p:nvSpPr>
        <p:spPr>
          <a:xfrm>
            <a:off x="9052560" y="3675890"/>
            <a:ext cx="1924812" cy="9883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9" b="0">
                <a:solidFill>
                  <a:srgbClr val="46505A"/>
                </a:solidFill>
                <a:latin typeface="Aptos"/>
              </a:defRPr>
            </a:pPr>
            <a:r>
              <a:rPr sz="1400" dirty="0"/>
              <a:t>Distance + scheme support</a:t>
            </a:r>
            <a:br>
              <a:rPr sz="1400" dirty="0"/>
            </a:br>
            <a:r>
              <a:rPr sz="1400" dirty="0"/>
              <a:t>Accepting / limited / excluded</a:t>
            </a:r>
          </a:p>
        </p:txBody>
      </p:sp>
      <p:sp>
        <p:nvSpPr>
          <p:cNvPr id="17469" name="Rounded Rectangle 17468"/>
          <p:cNvSpPr/>
          <p:nvPr/>
        </p:nvSpPr>
        <p:spPr>
          <a:xfrm>
            <a:off x="6537960" y="4882896"/>
            <a:ext cx="4498848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70" name="Rectangle 17469"/>
          <p:cNvSpPr/>
          <p:nvPr/>
        </p:nvSpPr>
        <p:spPr>
          <a:xfrm>
            <a:off x="6537960" y="4882896"/>
            <a:ext cx="50292" cy="749808"/>
          </a:xfrm>
          <a:prstGeom prst="rect">
            <a:avLst/>
          </a:prstGeom>
          <a:solidFill>
            <a:srgbClr val="236A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71" name="TextBox 17470"/>
          <p:cNvSpPr txBox="1"/>
          <p:nvPr/>
        </p:nvSpPr>
        <p:spPr>
          <a:xfrm>
            <a:off x="6702552" y="4983480"/>
            <a:ext cx="42245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C436C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7472" name="TextBox 17471"/>
          <p:cNvSpPr txBox="1"/>
          <p:nvPr/>
        </p:nvSpPr>
        <p:spPr>
          <a:xfrm>
            <a:off x="6702552" y="5182329"/>
            <a:ext cx="4224528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46505A"/>
                </a:solidFill>
                <a:latin typeface="Aptos"/>
              </a:defRPr>
            </a:pPr>
            <a:r>
              <a:rPr sz="1400" dirty="0"/>
              <a:t>Recommended scheme • true cost • eligible partner • checklist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796A1565-5966-B2AA-63FA-51FB083F611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41053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NextGen Coders</a:t>
            </a:r>
            <a:endParaRPr lang="en-IN" dirty="0"/>
          </a:p>
        </p:txBody>
      </p:sp>
      <p:sp>
        <p:nvSpPr>
          <p:cNvPr id="17410" name="TextBox 17409"/>
          <p:cNvSpPr txBox="1"/>
          <p:nvPr/>
        </p:nvSpPr>
        <p:spPr>
          <a:xfrm>
            <a:off x="457200" y="1353312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1C436C"/>
                </a:solidFill>
                <a:latin typeface="Aptos"/>
              </a:defRPr>
            </a:pPr>
            <a:r>
              <a:t>A practical MVP built on verifiable rules and replaceable data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457200" y="1874519"/>
            <a:ext cx="3520440" cy="3611880"/>
          </a:xfrm>
          <a:prstGeom prst="roundRect">
            <a:avLst/>
          </a:prstGeom>
          <a:solidFill>
            <a:srgbClr val="ECF5FC"/>
          </a:solidFill>
          <a:ln w="10160"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2" name="Rectangle 17411"/>
          <p:cNvSpPr/>
          <p:nvPr/>
        </p:nvSpPr>
        <p:spPr>
          <a:xfrm>
            <a:off x="457200" y="1874519"/>
            <a:ext cx="50292" cy="3611880"/>
          </a:xfrm>
          <a:prstGeom prst="rect">
            <a:avLst/>
          </a:prstGeom>
          <a:solidFill>
            <a:srgbClr val="236A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3" name="TextBox 17412"/>
          <p:cNvSpPr txBox="1"/>
          <p:nvPr/>
        </p:nvSpPr>
        <p:spPr>
          <a:xfrm>
            <a:off x="621792" y="1975103"/>
            <a:ext cx="3246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C436C"/>
                </a:solidFill>
                <a:latin typeface="Aptos"/>
              </a:defRPr>
            </a:pPr>
            <a:r>
              <a:t>Analysis of feasibility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621792" y="2340863"/>
            <a:ext cx="3246120" cy="246221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30" b="0">
                <a:solidFill>
                  <a:srgbClr val="46505A"/>
                </a:solidFill>
                <a:latin typeface="Aptos"/>
              </a:defRPr>
            </a:pPr>
            <a:r>
              <a:rPr sz="1400" dirty="0"/>
              <a:t>✓ Public NSFDC scheme rules &amp; eligibility</a:t>
            </a:r>
            <a:br>
              <a:rPr sz="1400" dirty="0"/>
            </a:br>
            <a:br>
              <a:rPr sz="1400" dirty="0"/>
            </a:br>
            <a:r>
              <a:rPr sz="1400" dirty="0"/>
              <a:t>✓ Rule-based arithmetic — fast to verify and cheap to run</a:t>
            </a:r>
            <a:br>
              <a:rPr sz="1400" dirty="0"/>
            </a:br>
            <a:br>
              <a:rPr sz="1400" dirty="0"/>
            </a:br>
            <a:r>
              <a:rPr sz="1400" dirty="0"/>
              <a:t>✓ No live bank data required for a working demo</a:t>
            </a:r>
            <a:br>
              <a:rPr sz="1400" dirty="0"/>
            </a:br>
            <a:br>
              <a:rPr sz="1400" dirty="0"/>
            </a:br>
            <a:r>
              <a:rPr sz="1400" dirty="0"/>
              <a:t>✓ Partner dataset can be replaced without changing routing logic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4343400" y="1874519"/>
            <a:ext cx="3520440" cy="3611880"/>
          </a:xfrm>
          <a:prstGeom prst="roundRect">
            <a:avLst/>
          </a:prstGeom>
          <a:solidFill>
            <a:srgbClr val="FFF5EB"/>
          </a:solidFill>
          <a:ln w="10160"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6" name="Rectangle 17415"/>
          <p:cNvSpPr/>
          <p:nvPr/>
        </p:nvSpPr>
        <p:spPr>
          <a:xfrm>
            <a:off x="4343400" y="1874519"/>
            <a:ext cx="50292" cy="3611880"/>
          </a:xfrm>
          <a:prstGeom prst="rect">
            <a:avLst/>
          </a:prstGeom>
          <a:solidFill>
            <a:srgbClr val="E16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7" name="TextBox 17416"/>
          <p:cNvSpPr txBox="1"/>
          <p:nvPr/>
        </p:nvSpPr>
        <p:spPr>
          <a:xfrm>
            <a:off x="4507992" y="1975103"/>
            <a:ext cx="3246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C436C"/>
                </a:solidFill>
                <a:latin typeface="Aptos"/>
              </a:defRPr>
            </a:pPr>
            <a:r>
              <a:rPr dirty="0"/>
              <a:t>Potential challenges &amp; risks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4507992" y="2340863"/>
            <a:ext cx="3246120" cy="16004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30" b="0">
                <a:solidFill>
                  <a:srgbClr val="46505A"/>
                </a:solidFill>
                <a:latin typeface="Aptos"/>
              </a:defRPr>
            </a:pPr>
            <a:r>
              <a:rPr sz="1400" dirty="0"/>
              <a:t>⚠ Scheme rates and limits can change</a:t>
            </a:r>
            <a:br>
              <a:rPr sz="1400" dirty="0"/>
            </a:br>
            <a:br>
              <a:rPr sz="1400" dirty="0"/>
            </a:br>
            <a:r>
              <a:rPr sz="1400" dirty="0"/>
              <a:t>⚠ Live partner acceptance / fun</a:t>
            </a:r>
            <a:r>
              <a:rPr lang="en-US" sz="1400" dirty="0"/>
              <a:t>d</a:t>
            </a:r>
            <a:r>
              <a:rPr sz="1400" dirty="0"/>
              <a:t>-</a:t>
            </a:r>
            <a:r>
              <a:rPr sz="1400" dirty="0" err="1"/>
              <a:t>utilisation</a:t>
            </a:r>
            <a:r>
              <a:rPr sz="1400" dirty="0"/>
              <a:t> data is not publicly available</a:t>
            </a:r>
            <a:br>
              <a:rPr sz="1400" dirty="0"/>
            </a:br>
            <a:br>
              <a:rPr sz="1400" dirty="0"/>
            </a:br>
            <a:r>
              <a:rPr sz="1400" dirty="0"/>
              <a:t>⚠ Low-literacy or non-smartphone users may need simpler access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8229600" y="1874519"/>
            <a:ext cx="3520440" cy="3611880"/>
          </a:xfrm>
          <a:prstGeom prst="roundRect">
            <a:avLst/>
          </a:prstGeom>
          <a:solidFill>
            <a:srgbClr val="EDF8F5"/>
          </a:solidFill>
          <a:ln w="10160"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0" name="Rectangle 17419"/>
          <p:cNvSpPr/>
          <p:nvPr/>
        </p:nvSpPr>
        <p:spPr>
          <a:xfrm>
            <a:off x="8229600" y="1874519"/>
            <a:ext cx="50292" cy="3611880"/>
          </a:xfrm>
          <a:prstGeom prst="rect">
            <a:avLst/>
          </a:prstGeom>
          <a:solidFill>
            <a:srgbClr val="188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1" name="TextBox 17420"/>
          <p:cNvSpPr txBox="1"/>
          <p:nvPr/>
        </p:nvSpPr>
        <p:spPr>
          <a:xfrm>
            <a:off x="8394192" y="1975103"/>
            <a:ext cx="3246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C436C"/>
                </a:solidFill>
                <a:latin typeface="Aptos"/>
              </a:defRPr>
            </a:pPr>
            <a:r>
              <a:t>Strategies to overcome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8394192" y="2340863"/>
            <a:ext cx="3246120" cy="181588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30" b="0">
                <a:solidFill>
                  <a:srgbClr val="46505A"/>
                </a:solidFill>
                <a:latin typeface="Aptos"/>
              </a:defRPr>
            </a:pPr>
            <a:r>
              <a:rPr sz="1400" dirty="0"/>
              <a:t>→ Store every scheme figure with source + last-verified date</a:t>
            </a:r>
            <a:br>
              <a:rPr sz="1400" dirty="0"/>
            </a:br>
            <a:br>
              <a:rPr sz="1400" dirty="0"/>
            </a:br>
            <a:r>
              <a:rPr sz="1400" dirty="0"/>
              <a:t>→ Keep partner data swappable: SIMULATED now, live feed later</a:t>
            </a:r>
            <a:br>
              <a:rPr sz="1400" dirty="0"/>
            </a:br>
            <a:br>
              <a:rPr sz="1400" dirty="0"/>
            </a:br>
            <a:r>
              <a:rPr sz="1400" dirty="0"/>
              <a:t>→ English + Hindi, lightweight mobile UI and future kiosk mode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3246120" y="5669280"/>
            <a:ext cx="5715000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30" b="1">
                <a:solidFill>
                  <a:srgbClr val="236AAB"/>
                </a:solidFill>
                <a:latin typeface="Aptos"/>
              </a:defRPr>
            </a:pPr>
            <a:r>
              <a:t>DESIGNED FOR TRUST: SOURCE + DATE + EXPLICIT SIMULATED / VARIANT LABELS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ECE39872-FCF6-FADC-2F64-448CCD0C800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41053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NextGen Coders</a:t>
            </a:r>
            <a:endParaRPr lang="en-IN" dirty="0"/>
          </a:p>
        </p:txBody>
      </p:sp>
      <p:sp>
        <p:nvSpPr>
          <p:cNvPr id="17410" name="TextBox 17409"/>
          <p:cNvSpPr txBox="1"/>
          <p:nvPr/>
        </p:nvSpPr>
        <p:spPr>
          <a:xfrm>
            <a:off x="502920" y="1344168"/>
            <a:ext cx="2743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73808C"/>
                </a:solidFill>
                <a:latin typeface="Aptos"/>
              </a:defRPr>
            </a:pPr>
            <a:r>
              <a:t>THE PROBLEM FOR BENEFICIARIES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4526280" y="1344168"/>
            <a:ext cx="3108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73808C"/>
                </a:solidFill>
                <a:latin typeface="Aptos"/>
              </a:defRPr>
            </a:pPr>
            <a:r>
              <a:t>SARATHI'S VALUE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8641080" y="1344168"/>
            <a:ext cx="3017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73808C"/>
                </a:solidFill>
                <a:latin typeface="Aptos"/>
              </a:defRPr>
            </a:pPr>
            <a:r>
              <a:t>THE RESULT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502920" y="1755648"/>
            <a:ext cx="2971800" cy="3429000"/>
          </a:xfrm>
          <a:prstGeom prst="roundRect">
            <a:avLst/>
          </a:prstGeom>
          <a:solidFill>
            <a:srgbClr val="ECF5FC"/>
          </a:solidFill>
          <a:ln w="10160"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4" name="TextBox 17413"/>
          <p:cNvSpPr txBox="1"/>
          <p:nvPr/>
        </p:nvSpPr>
        <p:spPr>
          <a:xfrm>
            <a:off x="731520" y="1984248"/>
            <a:ext cx="2514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C436C"/>
                </a:solidFill>
                <a:latin typeface="Aptos"/>
              </a:defRPr>
            </a:pPr>
            <a:r>
              <a:t>Before Sarathi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749808" y="2578608"/>
            <a:ext cx="685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00" b="1">
                <a:solidFill>
                  <a:srgbClr val="236AAB"/>
                </a:solidFill>
                <a:latin typeface="Aptos"/>
              </a:defRPr>
            </a:pPr>
            <a:r>
              <a:t>100+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1508760" y="2569464"/>
            <a:ext cx="16916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46505A"/>
                </a:solidFill>
                <a:latin typeface="Aptos"/>
              </a:defRPr>
            </a:pPr>
            <a:r>
              <a:rPr sz="1400" dirty="0"/>
              <a:t>channel partners</a:t>
            </a:r>
          </a:p>
        </p:txBody>
      </p:sp>
      <p:cxnSp>
        <p:nvCxnSpPr>
          <p:cNvPr id="17417" name="Connector 17416"/>
          <p:cNvCxnSpPr/>
          <p:nvPr/>
        </p:nvCxnSpPr>
        <p:spPr>
          <a:xfrm>
            <a:off x="749808" y="3108960"/>
            <a:ext cx="2404872" cy="0"/>
          </a:xfrm>
          <a:prstGeom prst="line">
            <a:avLst/>
          </a:prstGeom>
          <a:ln w="8890">
            <a:solidFill>
              <a:srgbClr val="DA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8" name="TextBox 17417"/>
          <p:cNvSpPr txBox="1"/>
          <p:nvPr/>
        </p:nvSpPr>
        <p:spPr>
          <a:xfrm>
            <a:off x="749808" y="3291839"/>
            <a:ext cx="685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00" b="1">
                <a:solidFill>
                  <a:srgbClr val="236AAB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1508760" y="3282696"/>
            <a:ext cx="169164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46505A"/>
                </a:solidFill>
                <a:latin typeface="Aptos"/>
              </a:defRPr>
            </a:pPr>
            <a:r>
              <a:rPr sz="1400" dirty="0"/>
              <a:t>overlapping schemes</a:t>
            </a:r>
          </a:p>
        </p:txBody>
      </p:sp>
      <p:cxnSp>
        <p:nvCxnSpPr>
          <p:cNvPr id="17420" name="Connector 17419"/>
          <p:cNvCxnSpPr/>
          <p:nvPr/>
        </p:nvCxnSpPr>
        <p:spPr>
          <a:xfrm>
            <a:off x="749808" y="3822191"/>
            <a:ext cx="2404872" cy="0"/>
          </a:xfrm>
          <a:prstGeom prst="line">
            <a:avLst/>
          </a:prstGeom>
          <a:ln w="8890">
            <a:solidFill>
              <a:srgbClr val="DA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1" name="TextBox 17420"/>
          <p:cNvSpPr txBox="1"/>
          <p:nvPr/>
        </p:nvSpPr>
        <p:spPr>
          <a:xfrm>
            <a:off x="749808" y="4005072"/>
            <a:ext cx="685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00" b="1">
                <a:solidFill>
                  <a:srgbClr val="236AAB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1508760" y="3995928"/>
            <a:ext cx="169164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46505A"/>
                </a:solidFill>
                <a:latin typeface="Aptos"/>
              </a:defRPr>
            </a:pPr>
            <a:r>
              <a:rPr sz="1400" dirty="0"/>
              <a:t>wrong door can cost more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3977639" y="1755648"/>
            <a:ext cx="3977639" cy="3429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4" name="Oval 17423"/>
          <p:cNvSpPr/>
          <p:nvPr/>
        </p:nvSpPr>
        <p:spPr>
          <a:xfrm>
            <a:off x="5148072" y="2057400"/>
            <a:ext cx="1627632" cy="1627632"/>
          </a:xfrm>
          <a:prstGeom prst="ellipse">
            <a:avLst/>
          </a:prstGeom>
          <a:solidFill>
            <a:srgbClr val="ECF5FC"/>
          </a:solidFill>
          <a:ln w="27940">
            <a:solidFill>
              <a:srgbClr val="236A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5" name="TextBox 17424"/>
          <p:cNvSpPr txBox="1"/>
          <p:nvPr/>
        </p:nvSpPr>
        <p:spPr>
          <a:xfrm>
            <a:off x="5276088" y="2395728"/>
            <a:ext cx="1371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1C436C"/>
                </a:solidFill>
                <a:latin typeface="Aptos"/>
              </a:defRPr>
            </a:pPr>
            <a:r>
              <a:t>SARATHI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5321808" y="2779776"/>
            <a:ext cx="1280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46505A"/>
                </a:solidFill>
                <a:latin typeface="Aptos"/>
              </a:defRPr>
            </a:pPr>
            <a:r>
              <a:t>Rules decide</a:t>
            </a:r>
            <a:br/>
            <a:r>
              <a:t>AI explains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4251960" y="3950208"/>
            <a:ext cx="1005840" cy="749808"/>
          </a:xfrm>
          <a:prstGeom prst="roundRect">
            <a:avLst/>
          </a:prstGeom>
          <a:solidFill>
            <a:srgbClr val="ECF5FC"/>
          </a:solidFill>
          <a:ln w="10160"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8" name="TextBox 17427"/>
          <p:cNvSpPr txBox="1"/>
          <p:nvPr/>
        </p:nvSpPr>
        <p:spPr>
          <a:xfrm>
            <a:off x="4325112" y="4123944"/>
            <a:ext cx="8595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1C436C"/>
                </a:solidFill>
                <a:latin typeface="Aptos"/>
              </a:defRPr>
            </a:pPr>
            <a:r>
              <a:t>RIGHT</a:t>
            </a:r>
            <a:br/>
            <a:r>
              <a:t>SCHEME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5413248" y="3950208"/>
            <a:ext cx="1005840" cy="749808"/>
          </a:xfrm>
          <a:prstGeom prst="roundRect">
            <a:avLst/>
          </a:prstGeom>
          <a:solidFill>
            <a:srgbClr val="EDF8F5"/>
          </a:solidFill>
          <a:ln w="10160"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0" name="TextBox 17429"/>
          <p:cNvSpPr txBox="1"/>
          <p:nvPr/>
        </p:nvSpPr>
        <p:spPr>
          <a:xfrm>
            <a:off x="5486400" y="4123944"/>
            <a:ext cx="8595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1C436C"/>
                </a:solidFill>
                <a:latin typeface="Aptos"/>
              </a:defRPr>
            </a:pPr>
            <a:r>
              <a:t>TRUE</a:t>
            </a:r>
            <a:br/>
            <a:r>
              <a:t>COST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6574536" y="3950208"/>
            <a:ext cx="1005840" cy="749808"/>
          </a:xfrm>
          <a:prstGeom prst="roundRect">
            <a:avLst/>
          </a:prstGeom>
          <a:solidFill>
            <a:srgbClr val="FFF5EB"/>
          </a:solidFill>
          <a:ln w="10160"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2" name="TextBox 17431"/>
          <p:cNvSpPr txBox="1"/>
          <p:nvPr/>
        </p:nvSpPr>
        <p:spPr>
          <a:xfrm>
            <a:off x="6647688" y="4123944"/>
            <a:ext cx="8595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1C436C"/>
                </a:solidFill>
                <a:latin typeface="Aptos"/>
              </a:defRPr>
            </a:pPr>
            <a:r>
              <a:t>RIGHT</a:t>
            </a:r>
            <a:br/>
            <a:r>
              <a:t>PARTNER</a:t>
            </a:r>
          </a:p>
        </p:txBody>
      </p:sp>
      <p:cxnSp>
        <p:nvCxnSpPr>
          <p:cNvPr id="17433" name="Connector 17432"/>
          <p:cNvCxnSpPr/>
          <p:nvPr/>
        </p:nvCxnSpPr>
        <p:spPr>
          <a:xfrm flipH="1">
            <a:off x="4754880" y="3685032"/>
            <a:ext cx="1207008" cy="265176"/>
          </a:xfrm>
          <a:prstGeom prst="line">
            <a:avLst/>
          </a:prstGeom>
          <a:ln w="12700">
            <a:solidFill>
              <a:srgbClr val="7380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34" name="Connector 17433"/>
          <p:cNvCxnSpPr/>
          <p:nvPr/>
        </p:nvCxnSpPr>
        <p:spPr>
          <a:xfrm flipH="1">
            <a:off x="5916168" y="3685032"/>
            <a:ext cx="45720" cy="265176"/>
          </a:xfrm>
          <a:prstGeom prst="line">
            <a:avLst/>
          </a:prstGeom>
          <a:ln w="12700">
            <a:solidFill>
              <a:srgbClr val="7380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35" name="Connector 17434"/>
          <p:cNvCxnSpPr/>
          <p:nvPr/>
        </p:nvCxnSpPr>
        <p:spPr>
          <a:xfrm>
            <a:off x="5961888" y="3685032"/>
            <a:ext cx="1115568" cy="265176"/>
          </a:xfrm>
          <a:prstGeom prst="line">
            <a:avLst/>
          </a:prstGeom>
          <a:ln w="12700">
            <a:solidFill>
              <a:srgbClr val="7380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6" name="Rounded Rectangle 17435"/>
          <p:cNvSpPr/>
          <p:nvPr/>
        </p:nvSpPr>
        <p:spPr>
          <a:xfrm>
            <a:off x="8229600" y="1755648"/>
            <a:ext cx="3474720" cy="3429000"/>
          </a:xfrm>
          <a:prstGeom prst="roundRect">
            <a:avLst/>
          </a:prstGeom>
          <a:solidFill>
            <a:srgbClr val="EDF8F5"/>
          </a:solidFill>
          <a:ln w="10160"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7" name="TextBox 17436"/>
          <p:cNvSpPr txBox="1"/>
          <p:nvPr/>
        </p:nvSpPr>
        <p:spPr>
          <a:xfrm>
            <a:off x="8503920" y="1984248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C436C"/>
                </a:solidFill>
                <a:latin typeface="Aptos"/>
              </a:defRPr>
            </a:pPr>
            <a:r>
              <a:t>After Sarathi</a:t>
            </a:r>
          </a:p>
        </p:txBody>
      </p:sp>
      <p:sp>
        <p:nvSpPr>
          <p:cNvPr id="17438" name="Oval 17437"/>
          <p:cNvSpPr/>
          <p:nvPr/>
        </p:nvSpPr>
        <p:spPr>
          <a:xfrm>
            <a:off x="8485632" y="2596896"/>
            <a:ext cx="256032" cy="256032"/>
          </a:xfrm>
          <a:prstGeom prst="ellipse">
            <a:avLst/>
          </a:prstGeom>
          <a:solidFill>
            <a:srgbClr val="236A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9" name="TextBox 17438"/>
          <p:cNvSpPr txBox="1"/>
          <p:nvPr/>
        </p:nvSpPr>
        <p:spPr>
          <a:xfrm>
            <a:off x="8887968" y="2542032"/>
            <a:ext cx="248716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1C436C"/>
                </a:solidFill>
                <a:latin typeface="Aptos"/>
              </a:defRPr>
            </a:pPr>
            <a:r>
              <a:t>Financial literacy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8887968" y="2798063"/>
            <a:ext cx="2487168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46505A"/>
                </a:solidFill>
                <a:latin typeface="Aptos"/>
              </a:defRPr>
            </a:pPr>
            <a:r>
              <a:rPr sz="1200" dirty="0"/>
              <a:t>Applicant understands the option, cost and route.</a:t>
            </a:r>
          </a:p>
        </p:txBody>
      </p:sp>
      <p:sp>
        <p:nvSpPr>
          <p:cNvPr id="17441" name="Oval 17440"/>
          <p:cNvSpPr/>
          <p:nvPr/>
        </p:nvSpPr>
        <p:spPr>
          <a:xfrm>
            <a:off x="8485632" y="3346703"/>
            <a:ext cx="256032" cy="256032"/>
          </a:xfrm>
          <a:prstGeom prst="ellipse">
            <a:avLst/>
          </a:prstGeom>
          <a:solidFill>
            <a:srgbClr val="188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2" name="TextBox 17441"/>
          <p:cNvSpPr txBox="1"/>
          <p:nvPr/>
        </p:nvSpPr>
        <p:spPr>
          <a:xfrm>
            <a:off x="8887968" y="3291839"/>
            <a:ext cx="248716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1C436C"/>
                </a:solidFill>
                <a:latin typeface="Aptos"/>
              </a:defRPr>
            </a:pPr>
            <a:r>
              <a:t>Lower borrowing cost</a:t>
            </a:r>
          </a:p>
        </p:txBody>
      </p:sp>
      <p:sp>
        <p:nvSpPr>
          <p:cNvPr id="17443" name="TextBox 17442"/>
          <p:cNvSpPr txBox="1"/>
          <p:nvPr/>
        </p:nvSpPr>
        <p:spPr>
          <a:xfrm>
            <a:off x="8887968" y="3547872"/>
            <a:ext cx="2487168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46505A"/>
                </a:solidFill>
                <a:latin typeface="Aptos"/>
              </a:defRPr>
            </a:pPr>
            <a:r>
              <a:rPr sz="1200" dirty="0"/>
              <a:t>Cheapest eligible scheme × channel is surfaced.</a:t>
            </a:r>
          </a:p>
        </p:txBody>
      </p:sp>
      <p:sp>
        <p:nvSpPr>
          <p:cNvPr id="17444" name="Oval 17443"/>
          <p:cNvSpPr/>
          <p:nvPr/>
        </p:nvSpPr>
        <p:spPr>
          <a:xfrm>
            <a:off x="8485632" y="4096511"/>
            <a:ext cx="256032" cy="256032"/>
          </a:xfrm>
          <a:prstGeom prst="ellipse">
            <a:avLst/>
          </a:prstGeom>
          <a:solidFill>
            <a:srgbClr val="E16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5" name="TextBox 17444"/>
          <p:cNvSpPr txBox="1"/>
          <p:nvPr/>
        </p:nvSpPr>
        <p:spPr>
          <a:xfrm>
            <a:off x="8887968" y="4041648"/>
            <a:ext cx="248716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1C436C"/>
                </a:solidFill>
                <a:latin typeface="Aptos"/>
              </a:defRPr>
            </a:pPr>
            <a:r>
              <a:t>Faster, clearer routing</a:t>
            </a:r>
          </a:p>
        </p:txBody>
      </p:sp>
      <p:sp>
        <p:nvSpPr>
          <p:cNvPr id="17446" name="TextBox 17445"/>
          <p:cNvSpPr txBox="1"/>
          <p:nvPr/>
        </p:nvSpPr>
        <p:spPr>
          <a:xfrm>
            <a:off x="8887968" y="4297680"/>
            <a:ext cx="2487168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46505A"/>
                </a:solidFill>
                <a:latin typeface="Aptos"/>
              </a:defRPr>
            </a:pPr>
            <a:r>
              <a:rPr sz="1200" dirty="0"/>
              <a:t>Eligible partner is found instead of guessing.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7C1D6069-4F6A-ADCF-CE04-4D58B04E81D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41053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NextGen Coders</a:t>
            </a:r>
            <a:endParaRPr lang="en-IN" dirty="0"/>
          </a:p>
        </p:txBody>
      </p:sp>
      <p:sp>
        <p:nvSpPr>
          <p:cNvPr id="17410" name="TextBox 17409"/>
          <p:cNvSpPr txBox="1"/>
          <p:nvPr/>
        </p:nvSpPr>
        <p:spPr>
          <a:xfrm>
            <a:off x="457200" y="1353312"/>
            <a:ext cx="111556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1C436C"/>
                </a:solidFill>
                <a:latin typeface="Aptos"/>
              </a:defRPr>
            </a:pPr>
            <a:r>
              <a:t>Primary sources used to build and verify Sarathi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502920" y="1828800"/>
            <a:ext cx="11155680" cy="621792"/>
          </a:xfrm>
          <a:prstGeom prst="roundRect">
            <a:avLst/>
          </a:prstGeom>
          <a:solidFill>
            <a:srgbClr val="ECF5FC"/>
          </a:solidFill>
          <a:ln w="10160"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2" name="Oval 17411"/>
          <p:cNvSpPr/>
          <p:nvPr/>
        </p:nvSpPr>
        <p:spPr>
          <a:xfrm>
            <a:off x="658368" y="1965960"/>
            <a:ext cx="329184" cy="329184"/>
          </a:xfrm>
          <a:prstGeom prst="ellipse">
            <a:avLst/>
          </a:prstGeom>
          <a:solidFill>
            <a:srgbClr val="236A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1115568" y="1920240"/>
            <a:ext cx="27432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30" b="1">
                <a:solidFill>
                  <a:srgbClr val="1C436C"/>
                </a:solidFill>
                <a:latin typeface="Aptos"/>
              </a:defRPr>
            </a:pPr>
            <a:r>
              <a:rPr sz="1200" dirty="0"/>
              <a:t>NSFDC — Official Scheme Details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3840480" y="1920240"/>
            <a:ext cx="292608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80" b="0">
                <a:solidFill>
                  <a:srgbClr val="236AAB"/>
                </a:solidFill>
                <a:latin typeface="Aptos"/>
              </a:defRPr>
            </a:pPr>
            <a:r>
              <a:rPr sz="1400" dirty="0"/>
              <a:t>nsfdc.nic.in/scheme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6903720" y="1920240"/>
            <a:ext cx="44348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60" b="0">
                <a:solidFill>
                  <a:srgbClr val="46505A"/>
                </a:solidFill>
                <a:latin typeface="Aptos"/>
              </a:defRPr>
            </a:pPr>
            <a:r>
              <a:rPr sz="1400" dirty="0"/>
              <a:t>Scheme limits, rates, tenure and channel mapping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502920" y="2633472"/>
            <a:ext cx="11155680" cy="621792"/>
          </a:xfrm>
          <a:prstGeom prst="roundRect">
            <a:avLst/>
          </a:prstGeom>
          <a:solidFill>
            <a:srgbClr val="EDF8F5"/>
          </a:solidFill>
          <a:ln w="10160"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7" name="Oval 17416"/>
          <p:cNvSpPr/>
          <p:nvPr/>
        </p:nvSpPr>
        <p:spPr>
          <a:xfrm>
            <a:off x="658368" y="2770632"/>
            <a:ext cx="329184" cy="329184"/>
          </a:xfrm>
          <a:prstGeom prst="ellipse">
            <a:avLst/>
          </a:prstGeom>
          <a:solidFill>
            <a:srgbClr val="188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1115568" y="2724912"/>
            <a:ext cx="27432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30" b="1">
                <a:solidFill>
                  <a:srgbClr val="1C436C"/>
                </a:solidFill>
                <a:latin typeface="Aptos"/>
              </a:defRPr>
            </a:pPr>
            <a:r>
              <a:rPr sz="1200" dirty="0"/>
              <a:t>NSFDC — Eligibility Requirements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3840480" y="2724912"/>
            <a:ext cx="292608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80" b="0">
                <a:solidFill>
                  <a:srgbClr val="236AAB"/>
                </a:solidFill>
                <a:latin typeface="Aptos"/>
              </a:defRPr>
            </a:pPr>
            <a:r>
              <a:rPr sz="1400" dirty="0"/>
              <a:t>nsfdc.nic.in/eligibility-requirements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6903720" y="2724912"/>
            <a:ext cx="44348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60" b="0">
                <a:solidFill>
                  <a:srgbClr val="46505A"/>
                </a:solidFill>
                <a:latin typeface="Aptos"/>
              </a:defRPr>
            </a:pPr>
            <a:r>
              <a:rPr sz="1400" dirty="0"/>
              <a:t>SC status, income ceiling and applicant conditions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502920" y="3438144"/>
            <a:ext cx="11155680" cy="621792"/>
          </a:xfrm>
          <a:prstGeom prst="roundRect">
            <a:avLst/>
          </a:prstGeom>
          <a:solidFill>
            <a:srgbClr val="F4F2FB"/>
          </a:solidFill>
          <a:ln w="10160"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2" name="Oval 17421"/>
          <p:cNvSpPr/>
          <p:nvPr/>
        </p:nvSpPr>
        <p:spPr>
          <a:xfrm>
            <a:off x="658368" y="3575303"/>
            <a:ext cx="329184" cy="329184"/>
          </a:xfrm>
          <a:prstGeom prst="ellipse">
            <a:avLst/>
          </a:prstGeom>
          <a:solidFill>
            <a:srgbClr val="5B4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1115568" y="3529584"/>
            <a:ext cx="27432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30" b="1">
                <a:solidFill>
                  <a:srgbClr val="1C436C"/>
                </a:solidFill>
                <a:latin typeface="Aptos"/>
              </a:defRPr>
            </a:pPr>
            <a:r>
              <a:rPr sz="1200" dirty="0"/>
              <a:t>NSFDC — Channel Partners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3840480" y="3529584"/>
            <a:ext cx="292608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80" b="0">
                <a:solidFill>
                  <a:srgbClr val="236AAB"/>
                </a:solidFill>
                <a:latin typeface="Aptos"/>
              </a:defRPr>
            </a:pPr>
            <a:r>
              <a:rPr sz="1400" dirty="0"/>
              <a:t>nsfdc.nic.in/our-channel-partners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6903720" y="3529584"/>
            <a:ext cx="44348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60" b="0">
                <a:solidFill>
                  <a:srgbClr val="46505A"/>
                </a:solidFill>
                <a:latin typeface="Aptos"/>
              </a:defRPr>
            </a:pPr>
            <a:r>
              <a:rPr sz="1400" dirty="0"/>
              <a:t>Partner categories and routing context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502920" y="4242816"/>
            <a:ext cx="11155680" cy="621792"/>
          </a:xfrm>
          <a:prstGeom prst="roundRect">
            <a:avLst/>
          </a:prstGeom>
          <a:solidFill>
            <a:srgbClr val="FFF5EB"/>
          </a:solidFill>
          <a:ln w="10160"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7" name="Oval 17426"/>
          <p:cNvSpPr/>
          <p:nvPr/>
        </p:nvSpPr>
        <p:spPr>
          <a:xfrm>
            <a:off x="658368" y="4379976"/>
            <a:ext cx="329184" cy="329184"/>
          </a:xfrm>
          <a:prstGeom prst="ellipse">
            <a:avLst/>
          </a:prstGeom>
          <a:solidFill>
            <a:srgbClr val="E16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1115568" y="4334255"/>
            <a:ext cx="27432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30" b="1">
                <a:solidFill>
                  <a:srgbClr val="1C436C"/>
                </a:solidFill>
                <a:latin typeface="Aptos"/>
              </a:defRPr>
            </a:pPr>
            <a:r>
              <a:rPr sz="1200" dirty="0"/>
              <a:t>PM-SURAJ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3840480" y="4334255"/>
            <a:ext cx="292608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80" b="0">
                <a:solidFill>
                  <a:srgbClr val="236AAB"/>
                </a:solidFill>
                <a:latin typeface="Aptos"/>
              </a:defRPr>
            </a:pPr>
            <a:r>
              <a:rPr sz="1400" dirty="0"/>
              <a:t>pmsuraj.dosje.gov.in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6903720" y="4334255"/>
            <a:ext cx="44348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60" b="0">
                <a:solidFill>
                  <a:srgbClr val="46505A"/>
                </a:solidFill>
                <a:latin typeface="Aptos"/>
              </a:defRPr>
            </a:pPr>
            <a:r>
              <a:rPr sz="1400" dirty="0"/>
              <a:t>Existing </a:t>
            </a:r>
            <a:r>
              <a:rPr sz="1400" dirty="0" err="1"/>
              <a:t>MoSJE</a:t>
            </a:r>
            <a:r>
              <a:rPr sz="1400" dirty="0"/>
              <a:t> application / tracking portal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502920" y="5047488"/>
            <a:ext cx="11155680" cy="621792"/>
          </a:xfrm>
          <a:prstGeom prst="roundRect">
            <a:avLst/>
          </a:prstGeom>
          <a:solidFill>
            <a:srgbClr val="ECF5FC"/>
          </a:solidFill>
          <a:ln w="10160"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2" name="Oval 17431"/>
          <p:cNvSpPr/>
          <p:nvPr/>
        </p:nvSpPr>
        <p:spPr>
          <a:xfrm>
            <a:off x="658368" y="5184648"/>
            <a:ext cx="329184" cy="329184"/>
          </a:xfrm>
          <a:prstGeom prst="ellipse">
            <a:avLst/>
          </a:prstGeom>
          <a:solidFill>
            <a:srgbClr val="236A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1115568" y="5138927"/>
            <a:ext cx="27432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30" b="1">
                <a:solidFill>
                  <a:srgbClr val="1C436C"/>
                </a:solidFill>
                <a:latin typeface="Aptos"/>
              </a:defRPr>
            </a:pPr>
            <a:r>
              <a:rPr sz="1200" dirty="0"/>
              <a:t>SIH26092 Problem Statement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3840480" y="5138927"/>
            <a:ext cx="292608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80" b="0">
                <a:solidFill>
                  <a:srgbClr val="236AAB"/>
                </a:solidFill>
                <a:latin typeface="Aptos"/>
              </a:defRPr>
            </a:pPr>
            <a:r>
              <a:rPr sz="1400" dirty="0"/>
              <a:t>Ministry of Social Justice &amp; Empowerment • SIH 2026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6903720" y="5138927"/>
            <a:ext cx="443484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60" b="0">
                <a:solidFill>
                  <a:srgbClr val="46505A"/>
                </a:solidFill>
                <a:latin typeface="Aptos"/>
              </a:defRPr>
            </a:pPr>
            <a:r>
              <a:rPr sz="1400" dirty="0"/>
              <a:t>Official requirements for recommender, calculator and geo-spatial locator</a:t>
            </a:r>
          </a:p>
        </p:txBody>
      </p:sp>
      <p:sp>
        <p:nvSpPr>
          <p:cNvPr id="17436" name="Rounded Rectangle 17435"/>
          <p:cNvSpPr/>
          <p:nvPr/>
        </p:nvSpPr>
        <p:spPr>
          <a:xfrm>
            <a:off x="3291840" y="5806440"/>
            <a:ext cx="5577840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30" b="1">
                <a:solidFill>
                  <a:srgbClr val="236AAB"/>
                </a:solidFill>
                <a:latin typeface="Aptos"/>
              </a:defRPr>
            </a:pPr>
            <a:r>
              <a:t>SCHEME DATA VERIFIED AGAINST NSFDC • RETRIEVED 10 SEP 2026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7514</TotalTime>
  <Words>751</Words>
  <Application>Microsoft Office PowerPoint</Application>
  <PresentationFormat>Widescreen</PresentationFormat>
  <Paragraphs>139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Chit Brahmbhatt</cp:lastModifiedBy>
  <cp:revision>151</cp:revision>
  <dcterms:created xsi:type="dcterms:W3CDTF">2013-12-12T18:46:50Z</dcterms:created>
  <dcterms:modified xsi:type="dcterms:W3CDTF">2026-09-10T07:41:36Z</dcterms:modified>
  <cp:category/>
</cp:coreProperties>
</file>